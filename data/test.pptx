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9144000"/>
  <p:notesSz cx="12192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62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834640"/>
            <a:ext cx="103632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5120640"/>
            <a:ext cx="85344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2103120"/>
            <a:ext cx="530352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2103120"/>
            <a:ext cx="530352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517" y="281"/>
            <a:ext cx="790680" cy="79177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31885" y="0"/>
            <a:ext cx="1759902" cy="94530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35991" y="3831449"/>
            <a:ext cx="3341264" cy="6640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71983" y="6079066"/>
            <a:ext cx="1861925" cy="112380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1011" y="179070"/>
            <a:ext cx="0" cy="434340"/>
          </a:xfrm>
          <a:custGeom>
            <a:avLst/>
            <a:gdLst/>
            <a:ahLst/>
            <a:cxnLst/>
            <a:rect l="l" t="t" r="r" b="b"/>
            <a:pathLst>
              <a:path h="434340">
                <a:moveTo>
                  <a:pt x="0" y="434199"/>
                </a:moveTo>
                <a:lnTo>
                  <a:pt x="0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54445" y="17907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657"/>
                </a:moveTo>
                <a:lnTo>
                  <a:pt x="0" y="0"/>
                </a:lnTo>
              </a:path>
            </a:pathLst>
          </a:custGeom>
          <a:ln w="25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72840" y="3831450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2727"/>
                </a:moveTo>
                <a:lnTo>
                  <a:pt x="0" y="0"/>
                </a:lnTo>
              </a:path>
            </a:pathLst>
          </a:custGeom>
          <a:ln w="510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223425" y="868680"/>
            <a:ext cx="0" cy="2962910"/>
          </a:xfrm>
          <a:custGeom>
            <a:avLst/>
            <a:gdLst/>
            <a:ahLst/>
            <a:cxnLst/>
            <a:rect l="l" t="t" r="r" b="b"/>
            <a:pathLst>
              <a:path h="2962910">
                <a:moveTo>
                  <a:pt x="0" y="2962770"/>
                </a:moveTo>
                <a:lnTo>
                  <a:pt x="0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223425" y="4802013"/>
            <a:ext cx="0" cy="3959225"/>
          </a:xfrm>
          <a:custGeom>
            <a:avLst/>
            <a:gdLst/>
            <a:ahLst/>
            <a:cxnLst/>
            <a:rect l="l" t="t" r="r" b="b"/>
            <a:pathLst>
              <a:path h="3959225">
                <a:moveTo>
                  <a:pt x="0" y="3958873"/>
                </a:moveTo>
                <a:lnTo>
                  <a:pt x="0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314904" y="3831450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1072727"/>
                </a:moveTo>
                <a:lnTo>
                  <a:pt x="0" y="0"/>
                </a:lnTo>
              </a:path>
            </a:pathLst>
          </a:custGeom>
          <a:ln w="89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881451"/>
            <a:ext cx="10432415" cy="0"/>
          </a:xfrm>
          <a:custGeom>
            <a:avLst/>
            <a:gdLst/>
            <a:ahLst/>
            <a:cxnLst/>
            <a:rect l="l" t="t" r="r" b="b"/>
            <a:pathLst>
              <a:path w="10432415">
                <a:moveTo>
                  <a:pt x="0" y="0"/>
                </a:moveTo>
                <a:lnTo>
                  <a:pt x="10431888" y="0"/>
                </a:lnTo>
              </a:path>
            </a:pathLst>
          </a:custGeom>
          <a:ln w="12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647335" y="3844221"/>
            <a:ext cx="1734820" cy="0"/>
          </a:xfrm>
          <a:custGeom>
            <a:avLst/>
            <a:gdLst/>
            <a:ahLst/>
            <a:cxnLst/>
            <a:rect l="l" t="t" r="r" b="b"/>
            <a:pathLst>
              <a:path w="1734820">
                <a:moveTo>
                  <a:pt x="0" y="0"/>
                </a:moveTo>
                <a:lnTo>
                  <a:pt x="1734397" y="0"/>
                </a:lnTo>
              </a:path>
            </a:pathLst>
          </a:custGeom>
          <a:ln w="2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044884" y="3882532"/>
            <a:ext cx="2321560" cy="0"/>
          </a:xfrm>
          <a:custGeom>
            <a:avLst/>
            <a:gdLst/>
            <a:ahLst/>
            <a:cxnLst/>
            <a:rect l="l" t="t" r="r" b="b"/>
            <a:pathLst>
              <a:path w="2321559">
                <a:moveTo>
                  <a:pt x="0" y="0"/>
                </a:moveTo>
                <a:lnTo>
                  <a:pt x="2321031" y="0"/>
                </a:lnTo>
              </a:path>
            </a:pathLst>
          </a:custGeom>
          <a:ln w="510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263892" y="4399741"/>
            <a:ext cx="3928110" cy="13335"/>
          </a:xfrm>
          <a:custGeom>
            <a:avLst/>
            <a:gdLst/>
            <a:ahLst/>
            <a:cxnLst/>
            <a:rect l="l" t="t" r="r" b="b"/>
            <a:pathLst>
              <a:path w="3928109" h="13335">
                <a:moveTo>
                  <a:pt x="3928107" y="12770"/>
                </a:moveTo>
                <a:lnTo>
                  <a:pt x="0" y="12770"/>
                </a:lnTo>
                <a:lnTo>
                  <a:pt x="0" y="0"/>
                </a:lnTo>
                <a:lnTo>
                  <a:pt x="3928107" y="0"/>
                </a:lnTo>
                <a:lnTo>
                  <a:pt x="3928107" y="12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0" y="4406126"/>
            <a:ext cx="3724275" cy="0"/>
          </a:xfrm>
          <a:custGeom>
            <a:avLst/>
            <a:gdLst/>
            <a:ahLst/>
            <a:cxnLst/>
            <a:rect l="l" t="t" r="r" b="b"/>
            <a:pathLst>
              <a:path w="3724275">
                <a:moveTo>
                  <a:pt x="0" y="0"/>
                </a:moveTo>
                <a:lnTo>
                  <a:pt x="3723852" y="0"/>
                </a:lnTo>
              </a:path>
            </a:pathLst>
          </a:custGeom>
          <a:ln w="12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647335" y="4840325"/>
            <a:ext cx="4718685" cy="0"/>
          </a:xfrm>
          <a:custGeom>
            <a:avLst/>
            <a:gdLst/>
            <a:ahLst/>
            <a:cxnLst/>
            <a:rect l="l" t="t" r="r" b="b"/>
            <a:pathLst>
              <a:path w="4718684">
                <a:moveTo>
                  <a:pt x="0" y="0"/>
                </a:moveTo>
                <a:lnTo>
                  <a:pt x="4718580" y="0"/>
                </a:lnTo>
              </a:path>
            </a:pathLst>
          </a:custGeom>
          <a:ln w="638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03120"/>
            <a:ext cx="109728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8503920"/>
            <a:ext cx="39014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8503920"/>
            <a:ext cx="28041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8503920"/>
            <a:ext cx="28041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LS%26TGerald.lane50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217" y="-38832"/>
            <a:ext cx="9008745" cy="7226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dirty="0">
                <a:solidFill>
                  <a:srgbClr val="050505"/>
                </a:solidFill>
                <a:latin typeface="Arial"/>
                <a:cs typeface="Arial"/>
              </a:rPr>
              <a:t>Integration</a:t>
            </a:r>
            <a:r>
              <a:rPr sz="1800" b="1" spc="19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61616"/>
                </a:solidFill>
                <a:latin typeface="Arial"/>
                <a:cs typeface="Arial"/>
              </a:rPr>
              <a:t>of</a:t>
            </a:r>
            <a:r>
              <a:rPr sz="1800" b="1" spc="13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61616"/>
                </a:solidFill>
                <a:latin typeface="Arial"/>
                <a:cs typeface="Arial"/>
              </a:rPr>
              <a:t>Aviation</a:t>
            </a:r>
            <a:r>
              <a:rPr sz="1800" b="1" spc="13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61616"/>
                </a:solidFill>
                <a:latin typeface="Arial"/>
                <a:cs typeface="Arial"/>
              </a:rPr>
              <a:t>Cybersecurity</a:t>
            </a:r>
            <a:r>
              <a:rPr sz="1800" b="1" spc="37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61616"/>
                </a:solidFill>
                <a:latin typeface="Arial"/>
                <a:cs typeface="Arial"/>
              </a:rPr>
              <a:t>Solutions</a:t>
            </a:r>
            <a:r>
              <a:rPr sz="1800" b="1" spc="21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50505"/>
                </a:solidFill>
                <a:latin typeface="Arial"/>
                <a:cs typeface="Arial"/>
              </a:rPr>
              <a:t>into</a:t>
            </a:r>
            <a:r>
              <a:rPr sz="1800" b="1" spc="80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50505"/>
                </a:solidFill>
                <a:latin typeface="Arial"/>
                <a:cs typeface="Arial"/>
              </a:rPr>
              <a:t>Unmanned</a:t>
            </a:r>
            <a:r>
              <a:rPr sz="1800" b="1" spc="28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61616"/>
                </a:solidFill>
                <a:latin typeface="Arial"/>
                <a:cs typeface="Arial"/>
              </a:rPr>
              <a:t>Ground</a:t>
            </a:r>
            <a:r>
              <a:rPr sz="1800" b="1" spc="24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61616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  <a:p>
            <a:pPr marR="59055" algn="ctr">
              <a:lnSpc>
                <a:spcPct val="100000"/>
              </a:lnSpc>
              <a:spcBef>
                <a:spcPts val="605"/>
              </a:spcBef>
              <a:tabLst>
                <a:tab pos="906144" algn="l"/>
              </a:tabLst>
            </a:pPr>
            <a:r>
              <a:rPr sz="1750" spc="-10" dirty="0">
                <a:solidFill>
                  <a:srgbClr val="282828"/>
                </a:solidFill>
                <a:latin typeface="Arial"/>
                <a:cs typeface="Arial"/>
              </a:rPr>
              <a:t>(RPP15</a:t>
            </a:r>
            <a:r>
              <a:rPr sz="1750" dirty="0">
                <a:solidFill>
                  <a:srgbClr val="282828"/>
                </a:solidFill>
                <a:latin typeface="Arial"/>
                <a:cs typeface="Arial"/>
              </a:rPr>
              <a:t>	AP</a:t>
            </a:r>
            <a:r>
              <a:rPr sz="1750" spc="-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750" spc="110" dirty="0">
                <a:solidFill>
                  <a:srgbClr val="282828"/>
                </a:solidFill>
                <a:latin typeface="Arial"/>
                <a:cs typeface="Arial"/>
              </a:rPr>
              <a:t>18-</a:t>
            </a:r>
            <a:r>
              <a:rPr sz="1750" spc="130" dirty="0">
                <a:solidFill>
                  <a:srgbClr val="282828"/>
                </a:solidFill>
                <a:latin typeface="Arial"/>
                <a:cs typeface="Arial"/>
              </a:rPr>
              <a:t>002</a:t>
            </a:r>
            <a:r>
              <a:rPr sz="1750" spc="409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82828"/>
                </a:solidFill>
                <a:latin typeface="Arial"/>
                <a:cs typeface="Arial"/>
              </a:rPr>
              <a:t>ASM</a:t>
            </a:r>
            <a:r>
              <a:rPr sz="1750" spc="-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750" spc="95" dirty="0">
                <a:solidFill>
                  <a:srgbClr val="282828"/>
                </a:solidFill>
                <a:latin typeface="Arial"/>
                <a:cs typeface="Arial"/>
              </a:rPr>
              <a:t>18-</a:t>
            </a:r>
            <a:r>
              <a:rPr sz="1750" spc="70" dirty="0">
                <a:solidFill>
                  <a:srgbClr val="282828"/>
                </a:solidFill>
                <a:latin typeface="Arial"/>
                <a:cs typeface="Arial"/>
              </a:rPr>
              <a:t>01)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4976" y="1239097"/>
            <a:ext cx="105537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u="heavy" spc="-1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Arial"/>
                <a:cs typeface="Arial"/>
              </a:rPr>
              <a:t>Abstract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22" y="1880179"/>
            <a:ext cx="5527040" cy="1270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88900" indent="-3810">
              <a:lnSpc>
                <a:spcPct val="129500"/>
              </a:lnSpc>
              <a:spcBef>
                <a:spcPts val="95"/>
              </a:spcBef>
            </a:pP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ntegrat</a:t>
            </a: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on</a:t>
            </a:r>
            <a:r>
              <a:rPr sz="1100" b="1" spc="-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and</a:t>
            </a:r>
            <a:r>
              <a:rPr sz="1100" b="1" spc="7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demonstrat</a:t>
            </a: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on</a:t>
            </a:r>
            <a:r>
              <a:rPr sz="1100" b="1" spc="-5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of</a:t>
            </a:r>
            <a:r>
              <a:rPr sz="1100" b="1" spc="9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a 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c</a:t>
            </a:r>
            <a:r>
              <a:rPr sz="1100" b="1" spc="10" dirty="0">
                <a:solidFill>
                  <a:srgbClr val="5E5E5E"/>
                </a:solidFill>
                <a:latin typeface="Arial"/>
                <a:cs typeface="Arial"/>
              </a:rPr>
              <a:t>y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bersecur</a:t>
            </a:r>
            <a:r>
              <a:rPr sz="1100" b="1" spc="1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10" dirty="0">
                <a:solidFill>
                  <a:srgbClr val="4F4F4F"/>
                </a:solidFill>
                <a:latin typeface="Arial"/>
                <a:cs typeface="Arial"/>
              </a:rPr>
              <a:t>ty</a:t>
            </a:r>
            <a:r>
              <a:rPr sz="1100" b="1" spc="-3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282828"/>
                </a:solidFill>
                <a:latin typeface="Arial"/>
                <a:cs typeface="Arial"/>
              </a:rPr>
              <a:t>enab</a:t>
            </a: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ed</a:t>
            </a:r>
            <a:r>
              <a:rPr sz="1100" b="1" spc="20" dirty="0">
                <a:solidFill>
                  <a:srgbClr val="5E5E5E"/>
                </a:solidFill>
                <a:latin typeface="Arial"/>
                <a:cs typeface="Arial"/>
              </a:rPr>
              <a:t>,</a:t>
            </a:r>
            <a:r>
              <a:rPr sz="1100" b="1" spc="1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li</a:t>
            </a:r>
            <a:r>
              <a:rPr sz="1100" b="1" spc="20" dirty="0">
                <a:solidFill>
                  <a:srgbClr val="3D3D3D"/>
                </a:solidFill>
                <a:latin typeface="Arial"/>
                <a:cs typeface="Arial"/>
              </a:rPr>
              <a:t>ghtwe</a:t>
            </a:r>
            <a:r>
              <a:rPr sz="1100" b="1" spc="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282828"/>
                </a:solidFill>
                <a:latin typeface="Arial"/>
                <a:cs typeface="Arial"/>
              </a:rPr>
              <a:t>ght</a:t>
            </a:r>
            <a:r>
              <a:rPr sz="1100" b="1" spc="1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707070"/>
                </a:solidFill>
                <a:latin typeface="Arial"/>
                <a:cs typeface="Arial"/>
              </a:rPr>
              <a:t>fl</a:t>
            </a:r>
            <a:r>
              <a:rPr sz="1100" b="1" spc="-10" dirty="0">
                <a:solidFill>
                  <a:srgbClr val="3D3D3D"/>
                </a:solidFill>
                <a:latin typeface="Arial"/>
                <a:cs typeface="Arial"/>
              </a:rPr>
              <a:t>ex</a:t>
            </a:r>
            <a:r>
              <a:rPr sz="1100" b="1" spc="-1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-10" dirty="0">
                <a:solidFill>
                  <a:srgbClr val="3D3D3D"/>
                </a:solidFill>
                <a:latin typeface="Arial"/>
                <a:cs typeface="Arial"/>
              </a:rPr>
              <a:t>b</a:t>
            </a:r>
            <a:r>
              <a:rPr sz="1100" b="1" spc="-10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-10" dirty="0">
                <a:solidFill>
                  <a:srgbClr val="3D3D3D"/>
                </a:solidFill>
                <a:latin typeface="Arial"/>
                <a:cs typeface="Arial"/>
              </a:rPr>
              <a:t>e </a:t>
            </a:r>
            <a:r>
              <a:rPr sz="1100" b="1" spc="30" dirty="0">
                <a:solidFill>
                  <a:srgbClr val="3D3D3D"/>
                </a:solidFill>
                <a:latin typeface="Arial"/>
                <a:cs typeface="Arial"/>
              </a:rPr>
              <a:t>compute</a:t>
            </a:r>
            <a:r>
              <a:rPr sz="1100" b="1" spc="-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50" dirty="0">
                <a:solidFill>
                  <a:srgbClr val="3D3D3D"/>
                </a:solidFill>
                <a:latin typeface="Arial"/>
                <a:cs typeface="Arial"/>
              </a:rPr>
              <a:t>p</a:t>
            </a:r>
            <a:r>
              <a:rPr sz="1100" b="1" spc="50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50" dirty="0">
                <a:solidFill>
                  <a:srgbClr val="3D3D3D"/>
                </a:solidFill>
                <a:latin typeface="Arial"/>
                <a:cs typeface="Arial"/>
              </a:rPr>
              <a:t>atform</a:t>
            </a:r>
            <a:r>
              <a:rPr sz="1100" b="1" spc="30" dirty="0">
                <a:solidFill>
                  <a:srgbClr val="3D3D3D"/>
                </a:solidFill>
                <a:latin typeface="Arial"/>
                <a:cs typeface="Arial"/>
              </a:rPr>
              <a:t> targeted</a:t>
            </a:r>
            <a:r>
              <a:rPr sz="1100" b="1" spc="9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4F4F4F"/>
                </a:solidFill>
                <a:latin typeface="Arial"/>
                <a:cs typeface="Arial"/>
              </a:rPr>
              <a:t>for</a:t>
            </a:r>
            <a:r>
              <a:rPr sz="1100" b="1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5E5E5E"/>
                </a:solidFill>
                <a:latin typeface="Arial"/>
                <a:cs typeface="Arial"/>
              </a:rPr>
              <a:t>future</a:t>
            </a:r>
            <a:r>
              <a:rPr sz="1100" b="1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3D3D3D"/>
                </a:solidFill>
                <a:latin typeface="Arial"/>
                <a:cs typeface="Arial"/>
              </a:rPr>
              <a:t>unmanned</a:t>
            </a:r>
            <a:r>
              <a:rPr sz="1100" b="1" spc="40" dirty="0">
                <a:solidFill>
                  <a:srgbClr val="707070"/>
                </a:solidFill>
                <a:latin typeface="Arial"/>
                <a:cs typeface="Arial"/>
              </a:rPr>
              <a:t>/</a:t>
            </a:r>
            <a:r>
              <a:rPr sz="1100" b="1" spc="40" dirty="0">
                <a:solidFill>
                  <a:srgbClr val="4F4F4F"/>
                </a:solidFill>
                <a:latin typeface="Arial"/>
                <a:cs typeface="Arial"/>
              </a:rPr>
              <a:t>robot</a:t>
            </a:r>
            <a:r>
              <a:rPr sz="1100" b="1" spc="4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40" dirty="0">
                <a:solidFill>
                  <a:srgbClr val="3D3D3D"/>
                </a:solidFill>
                <a:latin typeface="Arial"/>
                <a:cs typeface="Arial"/>
              </a:rPr>
              <a:t>csp</a:t>
            </a:r>
            <a:r>
              <a:rPr sz="1100" b="1" spc="40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40" dirty="0">
                <a:solidFill>
                  <a:srgbClr val="3D3D3D"/>
                </a:solidFill>
                <a:latin typeface="Arial"/>
                <a:cs typeface="Arial"/>
              </a:rPr>
              <a:t>atforms</a:t>
            </a:r>
            <a:r>
              <a:rPr sz="1100" b="1" spc="40" dirty="0">
                <a:solidFill>
                  <a:srgbClr val="707070"/>
                </a:solidFill>
                <a:latin typeface="Arial"/>
                <a:cs typeface="Arial"/>
              </a:rPr>
              <a:t>.</a:t>
            </a:r>
            <a:r>
              <a:rPr sz="1100" b="1" spc="7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1100" b="1" spc="-20" dirty="0">
                <a:solidFill>
                  <a:srgbClr val="282828"/>
                </a:solidFill>
                <a:latin typeface="Arial"/>
                <a:cs typeface="Arial"/>
              </a:rPr>
              <a:t>h</a:t>
            </a:r>
            <a:r>
              <a:rPr sz="1100" b="1" spc="-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-20" dirty="0">
                <a:solidFill>
                  <a:srgbClr val="282828"/>
                </a:solidFill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 marL="12700" marR="5080" indent="4445">
              <a:lnSpc>
                <a:spcPts val="1610"/>
              </a:lnSpc>
              <a:spcBef>
                <a:spcPts val="5"/>
              </a:spcBef>
            </a:pP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demonstrat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on</a:t>
            </a:r>
            <a:r>
              <a:rPr sz="1200" spc="19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E5E5E"/>
                </a:solidFill>
                <a:latin typeface="Times New Roman"/>
                <a:cs typeface="Times New Roman"/>
              </a:rPr>
              <a:t>w</a:t>
            </a:r>
            <a:r>
              <a:rPr sz="1250" dirty="0">
                <a:solidFill>
                  <a:srgbClr val="8A8A8A"/>
                </a:solidFill>
                <a:latin typeface="Times New Roman"/>
                <a:cs typeface="Times New Roman"/>
              </a:rPr>
              <a:t>ill</a:t>
            </a:r>
            <a:r>
              <a:rPr sz="1250" spc="345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200" spc="60" dirty="0">
                <a:solidFill>
                  <a:srgbClr val="3D3D3D"/>
                </a:solidFill>
                <a:latin typeface="Arial"/>
                <a:cs typeface="Arial"/>
              </a:rPr>
              <a:t>pro</a:t>
            </a:r>
            <a:r>
              <a:rPr sz="1200" spc="60" dirty="0">
                <a:solidFill>
                  <a:srgbClr val="5E5E5E"/>
                </a:solidFill>
                <a:latin typeface="Arial"/>
                <a:cs typeface="Arial"/>
              </a:rPr>
              <a:t>v</a:t>
            </a:r>
            <a:r>
              <a:rPr sz="1200" spc="6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spc="60" dirty="0">
                <a:solidFill>
                  <a:srgbClr val="3D3D3D"/>
                </a:solidFill>
                <a:latin typeface="Arial"/>
                <a:cs typeface="Arial"/>
              </a:rPr>
              <a:t>de</a:t>
            </a:r>
            <a:r>
              <a:rPr sz="1200" spc="-6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3D3D3D"/>
                </a:solidFill>
                <a:latin typeface="Arial"/>
                <a:cs typeface="Arial"/>
              </a:rPr>
              <a:t>the</a:t>
            </a:r>
            <a:r>
              <a:rPr sz="1200" spc="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F4F4F"/>
                </a:solidFill>
                <a:latin typeface="Arial"/>
                <a:cs typeface="Arial"/>
              </a:rPr>
              <a:t>fo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ll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w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ng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capab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il</a:t>
            </a:r>
            <a:r>
              <a:rPr sz="1200" dirty="0">
                <a:solidFill>
                  <a:srgbClr val="707070"/>
                </a:solidFill>
                <a:latin typeface="Arial"/>
                <a:cs typeface="Arial"/>
              </a:rPr>
              <a:t>�</a:t>
            </a:r>
            <a:r>
              <a:rPr sz="1200" dirty="0">
                <a:solidFill>
                  <a:srgbClr val="4F4F4F"/>
                </a:solidFill>
                <a:latin typeface="Arial"/>
                <a:cs typeface="Arial"/>
              </a:rPr>
              <a:t>ies:</a:t>
            </a:r>
            <a:r>
              <a:rPr sz="1200" spc="-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a)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Root-o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f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Tr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ust</a:t>
            </a:r>
            <a:r>
              <a:rPr sz="1200" dirty="0">
                <a:solidFill>
                  <a:srgbClr val="707070"/>
                </a:solidFill>
                <a:latin typeface="Arial"/>
                <a:cs typeface="Arial"/>
              </a:rPr>
              <a:t>,</a:t>
            </a:r>
            <a:r>
              <a:rPr sz="1200" spc="90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b)</a:t>
            </a:r>
            <a:r>
              <a:rPr sz="1200" spc="27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D3D3D"/>
                </a:solidFill>
                <a:latin typeface="Arial"/>
                <a:cs typeface="Arial"/>
              </a:rPr>
              <a:t>F</a:t>
            </a:r>
            <a:r>
              <a:rPr sz="1200" spc="-2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spc="-20" dirty="0">
                <a:solidFill>
                  <a:srgbClr val="3D3D3D"/>
                </a:solidFill>
                <a:latin typeface="Arial"/>
                <a:cs typeface="Arial"/>
              </a:rPr>
              <a:t>PS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and</a:t>
            </a:r>
            <a:r>
              <a:rPr sz="1100" b="1" spc="12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NSA</a:t>
            </a:r>
            <a:r>
              <a:rPr sz="1100" b="1" spc="10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45" dirty="0">
                <a:solidFill>
                  <a:srgbClr val="3D3D3D"/>
                </a:solidFill>
                <a:latin typeface="Arial"/>
                <a:cs typeface="Arial"/>
              </a:rPr>
              <a:t>capab</a:t>
            </a:r>
            <a:r>
              <a:rPr sz="1100" b="1" spc="45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45" dirty="0">
                <a:solidFill>
                  <a:srgbClr val="3D3D3D"/>
                </a:solidFill>
                <a:latin typeface="Arial"/>
                <a:cs typeface="Arial"/>
              </a:rPr>
              <a:t>e</a:t>
            </a:r>
            <a:r>
              <a:rPr sz="1100" b="1" spc="-14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enc</a:t>
            </a:r>
            <a:r>
              <a:rPr sz="1100" b="1" spc="10" dirty="0">
                <a:solidFill>
                  <a:srgbClr val="5E5E5E"/>
                </a:solidFill>
                <a:latin typeface="Arial"/>
                <a:cs typeface="Arial"/>
              </a:rPr>
              <a:t>ry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pt</a:t>
            </a:r>
            <a:r>
              <a:rPr sz="1100" b="1" spc="1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on</a:t>
            </a:r>
            <a:r>
              <a:rPr sz="1100" b="1" spc="-7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4F4F4F"/>
                </a:solidFill>
                <a:latin typeface="Arial"/>
                <a:cs typeface="Arial"/>
              </a:rPr>
              <a:t>for</a:t>
            </a:r>
            <a:r>
              <a:rPr sz="1100" b="1" spc="-10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Data-At-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Rest,</a:t>
            </a:r>
            <a:r>
              <a:rPr sz="1100" b="1" spc="12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282828"/>
                </a:solidFill>
                <a:latin typeface="Arial"/>
                <a:cs typeface="Arial"/>
              </a:rPr>
              <a:t>c)</a:t>
            </a:r>
            <a:r>
              <a:rPr sz="1100" b="1" spc="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Xen, </a:t>
            </a:r>
            <a:r>
              <a:rPr sz="1100" b="1" spc="10" dirty="0">
                <a:solidFill>
                  <a:srgbClr val="282828"/>
                </a:solidFill>
                <a:latin typeface="Arial"/>
                <a:cs typeface="Arial"/>
              </a:rPr>
              <a:t>an</a:t>
            </a:r>
            <a:r>
              <a:rPr sz="1100" b="1" spc="-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open </a:t>
            </a:r>
            <a:r>
              <a:rPr sz="1100" b="1" spc="-10" dirty="0">
                <a:solidFill>
                  <a:srgbClr val="3D3D3D"/>
                </a:solidFill>
                <a:latin typeface="Arial"/>
                <a:cs typeface="Arial"/>
              </a:rPr>
              <a:t>arch</a:t>
            </a:r>
            <a:r>
              <a:rPr sz="1100" b="1" spc="-1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spc="-10" dirty="0">
                <a:solidFill>
                  <a:srgbClr val="3D3D3D"/>
                </a:solidFill>
                <a:latin typeface="Arial"/>
                <a:cs typeface="Arial"/>
              </a:rPr>
              <a:t>tecture 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y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pe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rv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so</a:t>
            </a:r>
            <a:r>
              <a:rPr sz="1200" dirty="0">
                <a:solidFill>
                  <a:srgbClr val="4F4F4F"/>
                </a:solidFill>
                <a:latin typeface="Arial"/>
                <a:cs typeface="Arial"/>
              </a:rPr>
              <a:t>r</a:t>
            </a:r>
            <a:r>
              <a:rPr sz="1200" spc="15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3D3D3D"/>
                </a:solidFill>
                <a:latin typeface="Arial"/>
                <a:cs typeface="Arial"/>
              </a:rPr>
              <a:t>and</a:t>
            </a:r>
            <a:r>
              <a:rPr sz="1200" spc="50" dirty="0">
                <a:solidFill>
                  <a:srgbClr val="282828"/>
                </a:solidFill>
                <a:latin typeface="Arial"/>
                <a:cs typeface="Arial"/>
              </a:rPr>
              <a:t>d)</a:t>
            </a:r>
            <a:r>
              <a:rPr sz="1200" spc="50" dirty="0">
                <a:solidFill>
                  <a:srgbClr val="3D3D3D"/>
                </a:solidFill>
                <a:latin typeface="Arial"/>
                <a:cs typeface="Arial"/>
              </a:rPr>
              <a:t>Robot</a:t>
            </a:r>
            <a:r>
              <a:rPr sz="1200" spc="5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spc="50" dirty="0">
                <a:solidFill>
                  <a:srgbClr val="282828"/>
                </a:solidFill>
                <a:latin typeface="Arial"/>
                <a:cs typeface="Arial"/>
              </a:rPr>
              <a:t>cs</a:t>
            </a:r>
            <a:r>
              <a:rPr sz="1200" spc="-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Operat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ngS</a:t>
            </a:r>
            <a:r>
              <a:rPr sz="1200" dirty="0">
                <a:solidFill>
                  <a:srgbClr val="5E5E5E"/>
                </a:solidFill>
                <a:latin typeface="Arial"/>
                <a:cs typeface="Arial"/>
              </a:rPr>
              <a:t>y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ste</a:t>
            </a:r>
            <a:r>
              <a:rPr sz="1200" dirty="0">
                <a:solidFill>
                  <a:srgbClr val="4F4F4F"/>
                </a:solidFill>
                <a:latin typeface="Arial"/>
                <a:cs typeface="Arial"/>
              </a:rPr>
              <a:t>m</a:t>
            </a:r>
            <a:r>
              <a:rPr sz="1200" dirty="0">
                <a:solidFill>
                  <a:srgbClr val="282828"/>
                </a:solidFill>
                <a:latin typeface="Arial"/>
                <a:cs typeface="Arial"/>
              </a:rPr>
              <a:t>-Mob</a:t>
            </a:r>
            <a:r>
              <a:rPr sz="1200" dirty="0">
                <a:solidFill>
                  <a:srgbClr val="8A8A8A"/>
                </a:solidFill>
                <a:latin typeface="Arial"/>
                <a:cs typeface="Arial"/>
              </a:rPr>
              <a:t>il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e</a:t>
            </a:r>
            <a:r>
              <a:rPr sz="1200" spc="-1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4F4F4F"/>
                </a:solidFill>
                <a:latin typeface="Arial"/>
                <a:cs typeface="Arial"/>
              </a:rPr>
              <a:t>(ROS</a:t>
            </a:r>
            <a:r>
              <a:rPr sz="1200" spc="-40" dirty="0">
                <a:solidFill>
                  <a:srgbClr val="282828"/>
                </a:solidFill>
                <a:latin typeface="Arial"/>
                <a:cs typeface="Arial"/>
              </a:rPr>
              <a:t>·M</a:t>
            </a:r>
            <a:r>
              <a:rPr sz="1200" spc="-40" dirty="0">
                <a:solidFill>
                  <a:srgbClr val="4F4F4F"/>
                </a:solidFill>
                <a:latin typeface="Arial"/>
                <a:cs typeface="Arial"/>
              </a:rPr>
              <a:t>)</a:t>
            </a:r>
            <a:r>
              <a:rPr sz="1200" spc="-40" dirty="0">
                <a:solidFill>
                  <a:srgbClr val="161616"/>
                </a:solidFill>
                <a:latin typeface="Arial"/>
                <a:cs typeface="Arial"/>
              </a:rPr>
              <a:t>.</a:t>
            </a:r>
            <a:r>
              <a:rPr sz="1200" spc="17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An</a:t>
            </a:r>
            <a:r>
              <a:rPr sz="1200" spc="22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3D3D3D"/>
                </a:solidFill>
                <a:latin typeface="Arial"/>
                <a:cs typeface="Arial"/>
              </a:rPr>
              <a:t>opt</a:t>
            </a:r>
            <a:r>
              <a:rPr sz="1200" spc="50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200" spc="50" dirty="0">
                <a:solidFill>
                  <a:srgbClr val="3D3D3D"/>
                </a:solidFill>
                <a:latin typeface="Arial"/>
                <a:cs typeface="Arial"/>
              </a:rPr>
              <a:t>ona</a:t>
            </a:r>
            <a:r>
              <a:rPr sz="1200" spc="50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200" spc="25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D3D3D"/>
                </a:solidFill>
                <a:latin typeface="Arial"/>
                <a:cs typeface="Arial"/>
              </a:rPr>
              <a:t>task </a:t>
            </a:r>
            <a:r>
              <a:rPr sz="1350" b="1" spc="-35" dirty="0">
                <a:solidFill>
                  <a:srgbClr val="5E5E5E"/>
                </a:solidFill>
                <a:latin typeface="Times New Roman"/>
                <a:cs typeface="Times New Roman"/>
              </a:rPr>
              <a:t>w</a:t>
            </a:r>
            <a:r>
              <a:rPr sz="1350" b="1" spc="-35" dirty="0">
                <a:solidFill>
                  <a:srgbClr val="8A8A8A"/>
                </a:solidFill>
                <a:latin typeface="Times New Roman"/>
                <a:cs typeface="Times New Roman"/>
              </a:rPr>
              <a:t>ill</a:t>
            </a:r>
            <a:r>
              <a:rPr sz="1350" b="1" spc="6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n</a:t>
            </a:r>
            <a:r>
              <a:rPr sz="1100" b="1" dirty="0">
                <a:solidFill>
                  <a:srgbClr val="5E5E5E"/>
                </a:solidFill>
                <a:latin typeface="Arial"/>
                <a:cs typeface="Arial"/>
              </a:rPr>
              <a:t>cl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ude</a:t>
            </a:r>
            <a:r>
              <a:rPr sz="1100" b="1" spc="-2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82828"/>
                </a:solidFill>
                <a:latin typeface="Arial"/>
                <a:cs typeface="Arial"/>
              </a:rPr>
              <a:t>add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t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ona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-3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82828"/>
                </a:solidFill>
                <a:latin typeface="Arial"/>
                <a:cs typeface="Arial"/>
              </a:rPr>
              <a:t>c</a:t>
            </a:r>
            <a:r>
              <a:rPr sz="1100" b="1" dirty="0">
                <a:solidFill>
                  <a:srgbClr val="5E5E5E"/>
                </a:solidFill>
                <a:latin typeface="Arial"/>
                <a:cs typeface="Arial"/>
              </a:rPr>
              <a:t>y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be</a:t>
            </a:r>
            <a:r>
              <a:rPr sz="1100" b="1" dirty="0">
                <a:solidFill>
                  <a:srgbClr val="5E5E5E"/>
                </a:solidFill>
                <a:latin typeface="Arial"/>
                <a:cs typeface="Arial"/>
              </a:rPr>
              <a:t>r</a:t>
            </a:r>
            <a:r>
              <a:rPr sz="1100" b="1" spc="10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82828"/>
                </a:solidFill>
                <a:latin typeface="Arial"/>
                <a:cs typeface="Arial"/>
              </a:rPr>
              <a:t>capab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il</a:t>
            </a:r>
            <a:r>
              <a:rPr sz="1100" b="1" dirty="0">
                <a:solidFill>
                  <a:srgbClr val="5E5E5E"/>
                </a:solidFill>
                <a:latin typeface="Arial"/>
                <a:cs typeface="Arial"/>
              </a:rPr>
              <a:t>it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es</a:t>
            </a:r>
            <a:r>
              <a:rPr sz="1100" b="1" spc="1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to</a:t>
            </a:r>
            <a:r>
              <a:rPr sz="1100" b="1" spc="-6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be</a:t>
            </a:r>
            <a:r>
              <a:rPr sz="1100" b="1" spc="15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D3D3D"/>
                </a:solidFill>
                <a:latin typeface="Arial"/>
                <a:cs typeface="Arial"/>
              </a:rPr>
              <a:t>determ</a:t>
            </a:r>
            <a:r>
              <a:rPr sz="1100" b="1" dirty="0">
                <a:solidFill>
                  <a:srgbClr val="8A8A8A"/>
                </a:solidFill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282828"/>
                </a:solidFill>
                <a:latin typeface="Arial"/>
                <a:cs typeface="Arial"/>
              </a:rPr>
              <a:t>ned</a:t>
            </a:r>
            <a:r>
              <a:rPr sz="1100" b="1" spc="100" dirty="0">
                <a:solidFill>
                  <a:srgbClr val="282828"/>
                </a:solidFill>
                <a:latin typeface="Arial"/>
                <a:cs typeface="Arial"/>
              </a:rPr>
              <a:t>  </a:t>
            </a:r>
            <a:r>
              <a:rPr sz="1100" b="1" spc="45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1100" b="1" spc="45" dirty="0">
                <a:solidFill>
                  <a:srgbClr val="3D3D3D"/>
                </a:solidFill>
                <a:latin typeface="Arial"/>
                <a:cs typeface="Arial"/>
              </a:rPr>
              <a:t>ater.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0120" y="1060308"/>
            <a:ext cx="157289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u="heavy" spc="-1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Arial"/>
                <a:cs typeface="Arial"/>
              </a:rPr>
              <a:t>Deliverables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8013" y="1481737"/>
            <a:ext cx="5487035" cy="2209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5"/>
              </a:spcBef>
            </a:pPr>
            <a:r>
              <a:rPr sz="1500" u="heavy" spc="-145" dirty="0">
                <a:solidFill>
                  <a:srgbClr val="3D3D3D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BASE</a:t>
            </a:r>
            <a:r>
              <a:rPr sz="1500" u="heavy" spc="50" dirty="0">
                <a:solidFill>
                  <a:srgbClr val="3D3D3D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heavy" spc="-1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EFFORT</a:t>
            </a:r>
            <a:endParaRPr sz="1500">
              <a:latin typeface="Times New Roman"/>
              <a:cs typeface="Times New Roman"/>
            </a:endParaRPr>
          </a:p>
          <a:p>
            <a:pPr marL="160020" indent="-134620">
              <a:lnSpc>
                <a:spcPct val="100000"/>
              </a:lnSpc>
              <a:spcBef>
                <a:spcPts val="10"/>
              </a:spcBef>
              <a:buClr>
                <a:srgbClr val="161616"/>
              </a:buClr>
              <a:buChar char="•"/>
              <a:tabLst>
                <a:tab pos="160020" algn="l"/>
              </a:tabLst>
            </a:pP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Monthly</a:t>
            </a:r>
            <a:r>
              <a:rPr sz="1500" spc="1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3D3D3D"/>
                </a:solidFill>
                <a:latin typeface="Times New Roman"/>
                <a:cs typeface="Times New Roman"/>
              </a:rPr>
              <a:t>progress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40" dirty="0">
                <a:solidFill>
                  <a:srgbClr val="282828"/>
                </a:solidFill>
                <a:latin typeface="Times New Roman"/>
                <a:cs typeface="Times New Roman"/>
              </a:rPr>
              <a:t>reports</a:t>
            </a:r>
            <a:endParaRPr sz="1500">
              <a:latin typeface="Times New Roman"/>
              <a:cs typeface="Times New Roman"/>
            </a:endParaRPr>
          </a:p>
          <a:p>
            <a:pPr marL="147320" indent="-134620">
              <a:lnSpc>
                <a:spcPct val="100000"/>
              </a:lnSpc>
              <a:spcBef>
                <a:spcPts val="110"/>
              </a:spcBef>
              <a:buClr>
                <a:srgbClr val="161616"/>
              </a:buClr>
              <a:buChar char="•"/>
              <a:tabLst>
                <a:tab pos="147320" algn="l"/>
              </a:tabLst>
            </a:pPr>
            <a:r>
              <a:rPr sz="1500" spc="45" dirty="0">
                <a:solidFill>
                  <a:srgbClr val="3D3D3D"/>
                </a:solidFill>
                <a:latin typeface="Times New Roman"/>
                <a:cs typeface="Times New Roman"/>
              </a:rPr>
              <a:t>Presentations</a:t>
            </a:r>
            <a:endParaRPr sz="1500">
              <a:latin typeface="Times New Roman"/>
              <a:cs typeface="Times New Roman"/>
            </a:endParaRPr>
          </a:p>
          <a:p>
            <a:pPr marL="160020" indent="-134620">
              <a:lnSpc>
                <a:spcPct val="100000"/>
              </a:lnSpc>
              <a:spcBef>
                <a:spcPts val="315"/>
              </a:spcBef>
              <a:buClr>
                <a:srgbClr val="161616"/>
              </a:buClr>
              <a:buChar char="•"/>
              <a:tabLst>
                <a:tab pos="160020" algn="l"/>
              </a:tabLst>
            </a:pP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Demonstrations</a:t>
            </a:r>
            <a:endParaRPr sz="1500">
              <a:latin typeface="Times New Roman"/>
              <a:cs typeface="Times New Roman"/>
            </a:endParaRPr>
          </a:p>
          <a:p>
            <a:pPr marL="92710" marR="4344035" indent="-67945">
              <a:lnSpc>
                <a:spcPct val="106100"/>
              </a:lnSpc>
              <a:buChar char="•"/>
              <a:tabLst>
                <a:tab pos="92710" algn="l"/>
                <a:tab pos="158750" algn="l"/>
              </a:tabLst>
            </a:pPr>
            <a:r>
              <a:rPr sz="1500" dirty="0">
                <a:solidFill>
                  <a:srgbClr val="161616"/>
                </a:solidFill>
                <a:latin typeface="Times New Roman"/>
                <a:cs typeface="Times New Roman"/>
              </a:rPr>
              <a:t>	</a:t>
            </a:r>
            <a:r>
              <a:rPr sz="1500" dirty="0">
                <a:solidFill>
                  <a:srgbClr val="4F4F4F"/>
                </a:solidFill>
                <a:latin typeface="Times New Roman"/>
                <a:cs typeface="Times New Roman"/>
              </a:rPr>
              <a:t>Final</a:t>
            </a:r>
            <a:r>
              <a:rPr sz="1500" spc="-8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Report </a:t>
            </a:r>
            <a:r>
              <a:rPr sz="1500" u="heavy" spc="-60" dirty="0">
                <a:solidFill>
                  <a:srgbClr val="3D3D3D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OPTION</a:t>
            </a:r>
            <a:r>
              <a:rPr sz="1500" u="heavy" spc="-65" dirty="0">
                <a:solidFill>
                  <a:srgbClr val="3D3D3D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heavy" spc="-5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148590" indent="-123189">
              <a:lnSpc>
                <a:spcPct val="100000"/>
              </a:lnSpc>
              <a:spcBef>
                <a:spcPts val="10"/>
              </a:spcBef>
              <a:buClr>
                <a:srgbClr val="161616"/>
              </a:buClr>
              <a:buChar char="•"/>
              <a:tabLst>
                <a:tab pos="148590" algn="l"/>
              </a:tabLst>
            </a:pP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Additional</a:t>
            </a:r>
            <a:r>
              <a:rPr sz="1500" spc="8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demons</a:t>
            </a:r>
            <a:r>
              <a:rPr sz="1500" spc="55" dirty="0">
                <a:solidFill>
                  <a:srgbClr val="4F4F4F"/>
                </a:solidFill>
                <a:latin typeface="Times New Roman"/>
                <a:cs typeface="Times New Roman"/>
              </a:rPr>
              <a:t>t</a:t>
            </a:r>
            <a:r>
              <a:rPr sz="1500" spc="55" dirty="0">
                <a:solidFill>
                  <a:srgbClr val="161616"/>
                </a:solidFill>
                <a:latin typeface="Times New Roman"/>
                <a:cs typeface="Times New Roman"/>
              </a:rPr>
              <a:t>r</a:t>
            </a:r>
            <a:r>
              <a:rPr sz="1500" spc="55" dirty="0">
                <a:solidFill>
                  <a:srgbClr val="3D3D3D"/>
                </a:solidFill>
                <a:latin typeface="Times New Roman"/>
                <a:cs typeface="Times New Roman"/>
              </a:rPr>
              <a:t>at</a:t>
            </a:r>
            <a:r>
              <a:rPr sz="1500" spc="55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ons</a:t>
            </a:r>
            <a:r>
              <a:rPr sz="1500" spc="2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13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3D3D3D"/>
                </a:solidFill>
                <a:latin typeface="Times New Roman"/>
                <a:cs typeface="Times New Roman"/>
              </a:rPr>
              <a:t>trade</a:t>
            </a:r>
            <a:r>
              <a:rPr sz="1500" spc="-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65" dirty="0">
                <a:solidFill>
                  <a:srgbClr val="282828"/>
                </a:solidFill>
                <a:latin typeface="Times New Roman"/>
                <a:cs typeface="Times New Roman"/>
              </a:rPr>
              <a:t>stud</a:t>
            </a:r>
            <a:r>
              <a:rPr sz="1500" spc="65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spc="65" dirty="0">
                <a:solidFill>
                  <a:srgbClr val="282828"/>
                </a:solidFill>
                <a:latin typeface="Times New Roman"/>
                <a:cs typeface="Times New Roman"/>
              </a:rPr>
              <a:t>es</a:t>
            </a:r>
            <a:r>
              <a:rPr sz="1500" spc="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15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40" dirty="0">
                <a:solidFill>
                  <a:srgbClr val="3D3D3D"/>
                </a:solidFill>
                <a:latin typeface="Times New Roman"/>
                <a:cs typeface="Times New Roman"/>
              </a:rPr>
              <a:t>Attestation,</a:t>
            </a:r>
            <a:endParaRPr sz="1500">
              <a:latin typeface="Times New Roman"/>
              <a:cs typeface="Times New Roman"/>
            </a:endParaRPr>
          </a:p>
          <a:p>
            <a:pPr marL="21590" marR="5080">
              <a:lnSpc>
                <a:spcPts val="2010"/>
              </a:lnSpc>
            </a:pP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Access</a:t>
            </a:r>
            <a:r>
              <a:rPr sz="1500" spc="-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Controls,</a:t>
            </a:r>
            <a:r>
              <a:rPr sz="1500" spc="1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Runtime</a:t>
            </a:r>
            <a:r>
              <a:rPr sz="1500" spc="28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3D3D3D"/>
                </a:solidFill>
                <a:latin typeface="Times New Roman"/>
                <a:cs typeface="Times New Roman"/>
              </a:rPr>
              <a:t>authentication,</a:t>
            </a:r>
            <a:r>
              <a:rPr sz="1500" spc="9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85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32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Navigation/Position</a:t>
            </a:r>
            <a:r>
              <a:rPr sz="1500" spc="50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Ant</a:t>
            </a:r>
            <a:r>
              <a:rPr sz="1500" spc="-10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spc="-10" dirty="0">
                <a:solidFill>
                  <a:srgbClr val="050505"/>
                </a:solidFill>
                <a:latin typeface="Times New Roman"/>
                <a:cs typeface="Times New Roman"/>
              </a:rPr>
              <a:t>-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Spoofing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9897" y="4450890"/>
            <a:ext cx="18649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85" dirty="0">
                <a:solidFill>
                  <a:srgbClr val="161616"/>
                </a:solidFill>
                <a:latin typeface="Arial"/>
                <a:cs typeface="Arial"/>
              </a:rPr>
              <a:t>GOV</a:t>
            </a:r>
            <a:r>
              <a:rPr sz="1400" b="1" spc="-20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400" b="1" spc="-165" dirty="0">
                <a:solidFill>
                  <a:srgbClr val="161616"/>
                </a:solidFill>
                <a:latin typeface="Arial"/>
                <a:cs typeface="Arial"/>
              </a:rPr>
              <a:t>AOR</a:t>
            </a:r>
            <a:r>
              <a:rPr sz="1400" b="1" spc="-10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450" b="1" spc="50" dirty="0">
                <a:solidFill>
                  <a:srgbClr val="282828"/>
                </a:solidFill>
                <a:latin typeface="Arial"/>
                <a:cs typeface="Arial"/>
              </a:rPr>
              <a:t>Mark</a:t>
            </a:r>
            <a:r>
              <a:rPr sz="1100" b="1" spc="50" dirty="0">
                <a:solidFill>
                  <a:srgbClr val="3D3D3D"/>
                </a:solidFill>
                <a:latin typeface="Arial"/>
                <a:cs typeface="Arial"/>
              </a:rPr>
              <a:t>Mazzara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842" y="4734140"/>
            <a:ext cx="5725795" cy="354139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R="296545" algn="ctr">
              <a:lnSpc>
                <a:spcPct val="100000"/>
              </a:lnSpc>
              <a:spcBef>
                <a:spcPts val="1350"/>
              </a:spcBef>
            </a:pPr>
            <a:r>
              <a:rPr sz="2100" u="heavy" spc="-1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Arial"/>
                <a:cs typeface="Arial"/>
              </a:rPr>
              <a:t>Objectives</a:t>
            </a:r>
            <a:endParaRPr sz="2100">
              <a:latin typeface="Arial"/>
              <a:cs typeface="Arial"/>
            </a:endParaRPr>
          </a:p>
          <a:p>
            <a:pPr marL="12700" marR="138430" indent="130175">
              <a:lnSpc>
                <a:spcPct val="106100"/>
              </a:lnSpc>
              <a:spcBef>
                <a:spcPts val="785"/>
              </a:spcBef>
              <a:buClr>
                <a:srgbClr val="161616"/>
              </a:buClr>
              <a:buChar char="•"/>
              <a:tabLst>
                <a:tab pos="142875" algn="l"/>
              </a:tabLst>
            </a:pPr>
            <a:r>
              <a:rPr sz="1500" spc="55" dirty="0">
                <a:solidFill>
                  <a:srgbClr val="3D3D3D"/>
                </a:solidFill>
                <a:latin typeface="Times New Roman"/>
                <a:cs typeface="Times New Roman"/>
              </a:rPr>
              <a:t>Demonstrate</a:t>
            </a:r>
            <a:r>
              <a:rPr sz="1500" spc="245" dirty="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Confidentiality/Integrity/Availability</a:t>
            </a:r>
            <a:r>
              <a:rPr sz="1500" spc="13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60" dirty="0">
                <a:solidFill>
                  <a:srgbClr val="3D3D3D"/>
                </a:solidFill>
                <a:latin typeface="Times New Roman"/>
                <a:cs typeface="Times New Roman"/>
              </a:rPr>
              <a:t>Measures, </a:t>
            </a:r>
            <a:r>
              <a:rPr sz="1500" spc="30" dirty="0">
                <a:solidFill>
                  <a:srgbClr val="5E5E5E"/>
                </a:solidFill>
                <a:latin typeface="Times New Roman"/>
                <a:cs typeface="Times New Roman"/>
              </a:rPr>
              <a:t>including</a:t>
            </a:r>
            <a:r>
              <a:rPr sz="1500" spc="95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4F4F4F"/>
                </a:solidFill>
                <a:latin typeface="Times New Roman"/>
                <a:cs typeface="Times New Roman"/>
              </a:rPr>
              <a:t>Unmanned/Robotics</a:t>
            </a:r>
            <a:r>
              <a:rPr sz="1500" spc="7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3D3D3D"/>
                </a:solidFill>
                <a:latin typeface="Times New Roman"/>
                <a:cs typeface="Times New Roman"/>
              </a:rPr>
              <a:t>Systems</a:t>
            </a:r>
            <a:r>
              <a:rPr sz="1500" spc="-6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5E5E5E"/>
                </a:solidFill>
                <a:latin typeface="Times New Roman"/>
                <a:cs typeface="Times New Roman"/>
              </a:rPr>
              <a:t>in</a:t>
            </a:r>
            <a:r>
              <a:rPr sz="1500" spc="35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3D3D3D"/>
                </a:solidFill>
                <a:latin typeface="Times New Roman"/>
                <a:cs typeface="Times New Roman"/>
              </a:rPr>
              <a:t>Prototype</a:t>
            </a:r>
            <a:r>
              <a:rPr sz="1500" spc="38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20" dirty="0">
                <a:solidFill>
                  <a:srgbClr val="282828"/>
                </a:solidFill>
                <a:latin typeface="Times New Roman"/>
                <a:cs typeface="Times New Roman"/>
              </a:rPr>
              <a:t>Environment</a:t>
            </a:r>
            <a:r>
              <a:rPr sz="1500" spc="2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spc="-25" dirty="0">
                <a:solidFill>
                  <a:srgbClr val="282828"/>
                </a:solidFill>
                <a:latin typeface="Times New Roman"/>
                <a:cs typeface="Times New Roman"/>
              </a:rPr>
              <a:t>f </a:t>
            </a:r>
            <a:r>
              <a:rPr sz="1500" spc="-10" dirty="0">
                <a:solidFill>
                  <a:srgbClr val="282828"/>
                </a:solidFill>
                <a:latin typeface="Times New Roman"/>
                <a:cs typeface="Times New Roman"/>
              </a:rPr>
              <a:t>available</a:t>
            </a:r>
            <a:endParaRPr sz="1500">
              <a:latin typeface="Times New Roman"/>
              <a:cs typeface="Times New Roman"/>
            </a:endParaRPr>
          </a:p>
          <a:p>
            <a:pPr marL="18415" marR="832485" indent="137160">
              <a:lnSpc>
                <a:spcPts val="2010"/>
              </a:lnSpc>
              <a:buClr>
                <a:srgbClr val="161616"/>
              </a:buClr>
              <a:buChar char="•"/>
              <a:tabLst>
                <a:tab pos="155575" algn="l"/>
              </a:tabLst>
            </a:pP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Demonstrate</a:t>
            </a:r>
            <a:r>
              <a:rPr sz="1500" spc="44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Encrypt</a:t>
            </a:r>
            <a:r>
              <a:rPr sz="1500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dirty="0">
                <a:solidFill>
                  <a:srgbClr val="282828"/>
                </a:solidFill>
                <a:latin typeface="Times New Roman"/>
                <a:cs typeface="Times New Roman"/>
              </a:rPr>
              <a:t>on</a:t>
            </a:r>
            <a:r>
              <a:rPr sz="1500" spc="120" dirty="0">
                <a:solidFill>
                  <a:srgbClr val="282828"/>
                </a:solidFill>
                <a:latin typeface="Times New Roman"/>
                <a:cs typeface="Times New Roman"/>
              </a:rPr>
              <a:t> 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Function</a:t>
            </a:r>
            <a:r>
              <a:rPr sz="1500" spc="75" dirty="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Performance,</a:t>
            </a:r>
            <a:r>
              <a:rPr sz="1500" spc="3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E5E5E"/>
                </a:solidFill>
                <a:latin typeface="Times New Roman"/>
                <a:cs typeface="Times New Roman"/>
              </a:rPr>
              <a:t>including </a:t>
            </a:r>
            <a:r>
              <a:rPr sz="1500" spc="50" dirty="0">
                <a:solidFill>
                  <a:srgbClr val="4F4F4F"/>
                </a:solidFill>
                <a:latin typeface="Times New Roman"/>
                <a:cs typeface="Times New Roman"/>
              </a:rPr>
              <a:t>Unmanned/Robotics</a:t>
            </a:r>
            <a:r>
              <a:rPr sz="1500" spc="11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5E5E5E"/>
                </a:solidFill>
                <a:latin typeface="Times New Roman"/>
                <a:cs typeface="Times New Roman"/>
              </a:rPr>
              <a:t>Interfaces</a:t>
            </a:r>
            <a:r>
              <a:rPr sz="1500" spc="-70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10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85" dirty="0">
                <a:solidFill>
                  <a:srgbClr val="3D3D3D"/>
                </a:solidFill>
                <a:latin typeface="Times New Roman"/>
                <a:cs typeface="Times New Roman"/>
              </a:rPr>
              <a:t>Message</a:t>
            </a:r>
            <a:r>
              <a:rPr sz="1500" spc="-2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35" dirty="0">
                <a:solidFill>
                  <a:srgbClr val="3D3D3D"/>
                </a:solidFill>
                <a:latin typeface="Times New Roman"/>
                <a:cs typeface="Times New Roman"/>
              </a:rPr>
              <a:t>Data</a:t>
            </a:r>
            <a:endParaRPr sz="1500">
              <a:latin typeface="Times New Roman"/>
              <a:cs typeface="Times New Roman"/>
            </a:endParaRPr>
          </a:p>
          <a:p>
            <a:pPr marL="139065" indent="-117475">
              <a:lnSpc>
                <a:spcPct val="100000"/>
              </a:lnSpc>
              <a:spcBef>
                <a:spcPts val="10"/>
              </a:spcBef>
              <a:buClr>
                <a:srgbClr val="161616"/>
              </a:buClr>
              <a:buChar char="•"/>
              <a:tabLst>
                <a:tab pos="139065" algn="l"/>
              </a:tabLst>
            </a:pPr>
            <a:r>
              <a:rPr sz="1500" spc="10" dirty="0">
                <a:solidFill>
                  <a:srgbClr val="3D3D3D"/>
                </a:solidFill>
                <a:latin typeface="Times New Roman"/>
                <a:cs typeface="Times New Roman"/>
              </a:rPr>
              <a:t>Categorize</a:t>
            </a:r>
            <a:r>
              <a:rPr sz="1500" spc="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10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229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130" dirty="0">
                <a:solidFill>
                  <a:srgbClr val="3D3D3D"/>
                </a:solidFill>
                <a:latin typeface="Times New Roman"/>
                <a:cs typeface="Times New Roman"/>
              </a:rPr>
              <a:t>assess</a:t>
            </a:r>
            <a:r>
              <a:rPr sz="1500" spc="5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Physical</a:t>
            </a:r>
            <a:r>
              <a:rPr sz="1500" spc="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10" dirty="0">
                <a:solidFill>
                  <a:srgbClr val="3D3D3D"/>
                </a:solidFill>
                <a:latin typeface="Times New Roman"/>
                <a:cs typeface="Times New Roman"/>
              </a:rPr>
              <a:t>Protection</a:t>
            </a:r>
            <a:r>
              <a:rPr sz="1500" spc="8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90" dirty="0">
                <a:solidFill>
                  <a:srgbClr val="3D3D3D"/>
                </a:solidFill>
                <a:latin typeface="Times New Roman"/>
                <a:cs typeface="Times New Roman"/>
              </a:rPr>
              <a:t>needs</a:t>
            </a:r>
            <a:r>
              <a:rPr sz="1500" spc="6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100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7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40" dirty="0">
                <a:solidFill>
                  <a:srgbClr val="3D3D3D"/>
                </a:solidFill>
                <a:latin typeface="Times New Roman"/>
                <a:cs typeface="Times New Roman"/>
              </a:rPr>
              <a:t>mechanisms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1500" spc="19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4F4F4F"/>
                </a:solidFill>
                <a:latin typeface="Times New Roman"/>
                <a:cs typeface="Times New Roman"/>
              </a:rPr>
              <a:t>Unmanned/Robotics</a:t>
            </a:r>
            <a:r>
              <a:rPr sz="1500" spc="19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Systems</a:t>
            </a:r>
            <a:endParaRPr sz="1500">
              <a:latin typeface="Times New Roman"/>
              <a:cs typeface="Times New Roman"/>
            </a:endParaRPr>
          </a:p>
          <a:p>
            <a:pPr marL="155575" indent="-133985">
              <a:lnSpc>
                <a:spcPct val="100000"/>
              </a:lnSpc>
              <a:spcBef>
                <a:spcPts val="110"/>
              </a:spcBef>
              <a:buClr>
                <a:srgbClr val="161616"/>
              </a:buClr>
              <a:buChar char="•"/>
              <a:tabLst>
                <a:tab pos="155575" algn="l"/>
              </a:tabLst>
            </a:pPr>
            <a:r>
              <a:rPr sz="1500" spc="10" dirty="0">
                <a:solidFill>
                  <a:srgbClr val="3D3D3D"/>
                </a:solidFill>
                <a:latin typeface="Times New Roman"/>
                <a:cs typeface="Times New Roman"/>
              </a:rPr>
              <a:t>Demonstrate</a:t>
            </a:r>
            <a:r>
              <a:rPr sz="1500" spc="4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10" dirty="0">
                <a:solidFill>
                  <a:srgbClr val="3D3D3D"/>
                </a:solidFill>
                <a:latin typeface="Times New Roman"/>
                <a:cs typeface="Times New Roman"/>
              </a:rPr>
              <a:t>Penetration</a:t>
            </a:r>
            <a:r>
              <a:rPr sz="1500" spc="120" dirty="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sz="1500" spc="10" dirty="0">
                <a:solidFill>
                  <a:srgbClr val="4F4F4F"/>
                </a:solidFill>
                <a:latin typeface="Times New Roman"/>
                <a:cs typeface="Times New Roman"/>
              </a:rPr>
              <a:t>Testing</a:t>
            </a:r>
            <a:r>
              <a:rPr sz="1500" spc="13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15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10" dirty="0">
                <a:solidFill>
                  <a:srgbClr val="4F4F4F"/>
                </a:solidFill>
                <a:latin typeface="Times New Roman"/>
                <a:cs typeface="Times New Roman"/>
              </a:rPr>
              <a:t>Unmann</a:t>
            </a:r>
            <a:r>
              <a:rPr sz="1500" spc="10" dirty="0">
                <a:solidFill>
                  <a:srgbClr val="282828"/>
                </a:solidFill>
                <a:latin typeface="Times New Roman"/>
                <a:cs typeface="Times New Roman"/>
              </a:rPr>
              <a:t>ed</a:t>
            </a:r>
            <a:r>
              <a:rPr sz="1500" spc="10" dirty="0">
                <a:solidFill>
                  <a:srgbClr val="4F4F4F"/>
                </a:solidFill>
                <a:latin typeface="Times New Roman"/>
                <a:cs typeface="Times New Roman"/>
              </a:rPr>
              <a:t>/</a:t>
            </a:r>
            <a:r>
              <a:rPr sz="1500" spc="10" dirty="0">
                <a:solidFill>
                  <a:srgbClr val="282828"/>
                </a:solidFill>
                <a:latin typeface="Times New Roman"/>
                <a:cs typeface="Times New Roman"/>
              </a:rPr>
              <a:t>Robot</a:t>
            </a:r>
            <a:r>
              <a:rPr sz="1500" spc="10" dirty="0">
                <a:solidFill>
                  <a:srgbClr val="4F4F4F"/>
                </a:solidFill>
                <a:latin typeface="Times New Roman"/>
                <a:cs typeface="Times New Roman"/>
              </a:rPr>
              <a:t>ic</a:t>
            </a:r>
            <a:r>
              <a:rPr sz="1500" spc="10" dirty="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r>
              <a:rPr sz="1500" spc="150" dirty="0">
                <a:solidFill>
                  <a:srgbClr val="161616"/>
                </a:solidFill>
                <a:latin typeface="Times New Roman"/>
                <a:cs typeface="Times New Roman"/>
              </a:rPr>
              <a:t> 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Systems</a:t>
            </a:r>
            <a:endParaRPr sz="1500">
              <a:latin typeface="Times New Roman"/>
              <a:cs typeface="Times New Roman"/>
            </a:endParaRPr>
          </a:p>
          <a:p>
            <a:pPr marL="29209" marR="258445" indent="-7620">
              <a:lnSpc>
                <a:spcPts val="2010"/>
              </a:lnSpc>
              <a:buClr>
                <a:srgbClr val="161616"/>
              </a:buClr>
              <a:buChar char="•"/>
              <a:tabLst>
                <a:tab pos="29209" algn="l"/>
                <a:tab pos="139065" algn="l"/>
              </a:tabLst>
            </a:pP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	Categorize</a:t>
            </a:r>
            <a:r>
              <a:rPr sz="1500" spc="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282828"/>
                </a:solidFill>
                <a:latin typeface="Times New Roman"/>
                <a:cs typeface="Times New Roman"/>
              </a:rPr>
              <a:t>e</a:t>
            </a:r>
            <a:r>
              <a:rPr sz="1500" spc="45" dirty="0">
                <a:solidFill>
                  <a:srgbClr val="5E5E5E"/>
                </a:solidFill>
                <a:latin typeface="Times New Roman"/>
                <a:cs typeface="Times New Roman"/>
              </a:rPr>
              <a:t>l</a:t>
            </a:r>
            <a:r>
              <a:rPr sz="1500" spc="45" dirty="0">
                <a:solidFill>
                  <a:srgbClr val="282828"/>
                </a:solidFill>
                <a:latin typeface="Times New Roman"/>
                <a:cs typeface="Times New Roman"/>
              </a:rPr>
              <a:t>ectr</a:t>
            </a:r>
            <a:r>
              <a:rPr sz="1500" spc="45" dirty="0">
                <a:solidFill>
                  <a:srgbClr val="4F4F4F"/>
                </a:solidFill>
                <a:latin typeface="Times New Roman"/>
                <a:cs typeface="Times New Roman"/>
              </a:rPr>
              <a:t>ical,</a:t>
            </a:r>
            <a:r>
              <a:rPr sz="1500" spc="1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F4F4F"/>
                </a:solidFill>
                <a:latin typeface="Times New Roman"/>
                <a:cs typeface="Times New Roman"/>
              </a:rPr>
              <a:t>virtual</a:t>
            </a:r>
            <a:r>
              <a:rPr sz="1500" spc="-204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-55" dirty="0">
                <a:solidFill>
                  <a:srgbClr val="4F4F4F"/>
                </a:solidFill>
                <a:latin typeface="Times New Roman"/>
                <a:cs typeface="Times New Roman"/>
              </a:rPr>
              <a:t>{API),</a:t>
            </a:r>
            <a:r>
              <a:rPr sz="1500" spc="7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and</a:t>
            </a:r>
            <a:r>
              <a:rPr sz="1500" spc="190" dirty="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sz="1500" spc="-100" dirty="0">
                <a:solidFill>
                  <a:srgbClr val="3D3D3D"/>
                </a:solidFill>
                <a:latin typeface="Times New Roman"/>
                <a:cs typeface="Times New Roman"/>
              </a:rPr>
              <a:t>RF</a:t>
            </a:r>
            <a:r>
              <a:rPr sz="1500" spc="4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E5E5E"/>
                </a:solidFill>
                <a:latin typeface="Times New Roman"/>
                <a:cs typeface="Times New Roman"/>
              </a:rPr>
              <a:t>I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nterface</a:t>
            </a:r>
            <a:r>
              <a:rPr sz="1500" dirty="0">
                <a:solidFill>
                  <a:srgbClr val="161616"/>
                </a:solidFill>
                <a:latin typeface="Times New Roman"/>
                <a:cs typeface="Times New Roman"/>
              </a:rPr>
              <a:t>s</a:t>
            </a:r>
            <a:r>
              <a:rPr sz="1500" spc="8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15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3D3D3D"/>
                </a:solidFill>
                <a:latin typeface="Times New Roman"/>
                <a:cs typeface="Times New Roman"/>
              </a:rPr>
              <a:t>a</a:t>
            </a:r>
            <a:r>
              <a:rPr sz="1500" spc="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50" dirty="0">
                <a:solidFill>
                  <a:srgbClr val="282828"/>
                </a:solidFill>
                <a:latin typeface="Times New Roman"/>
                <a:cs typeface="Times New Roman"/>
              </a:rPr>
              <a:t>samp</a:t>
            </a:r>
            <a:r>
              <a:rPr sz="1500" spc="50" dirty="0">
                <a:solidFill>
                  <a:srgbClr val="5E5E5E"/>
                </a:solidFill>
                <a:latin typeface="Times New Roman"/>
                <a:cs typeface="Times New Roman"/>
              </a:rPr>
              <a:t>l</a:t>
            </a:r>
            <a:r>
              <a:rPr sz="1500" spc="50" dirty="0">
                <a:solidFill>
                  <a:srgbClr val="282828"/>
                </a:solidFill>
                <a:latin typeface="Times New Roman"/>
                <a:cs typeface="Times New Roman"/>
              </a:rPr>
              <a:t>e </a:t>
            </a:r>
            <a:r>
              <a:rPr sz="1500" spc="-80" dirty="0">
                <a:solidFill>
                  <a:srgbClr val="3D3D3D"/>
                </a:solidFill>
                <a:latin typeface="Times New Roman"/>
                <a:cs typeface="Times New Roman"/>
              </a:rPr>
              <a:t>ROS-</a:t>
            </a:r>
            <a:r>
              <a:rPr sz="1500" dirty="0">
                <a:solidFill>
                  <a:srgbClr val="3D3D3D"/>
                </a:solidFill>
                <a:latin typeface="Times New Roman"/>
                <a:cs typeface="Times New Roman"/>
              </a:rPr>
              <a:t>M</a:t>
            </a:r>
            <a:r>
              <a:rPr sz="1500" spc="3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80" dirty="0">
                <a:solidFill>
                  <a:srgbClr val="3D3D3D"/>
                </a:solidFill>
                <a:latin typeface="Times New Roman"/>
                <a:cs typeface="Times New Roman"/>
              </a:rPr>
              <a:t>based</a:t>
            </a:r>
            <a:r>
              <a:rPr sz="1500" spc="3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4F4F4F"/>
                </a:solidFill>
                <a:latin typeface="Times New Roman"/>
                <a:cs typeface="Times New Roman"/>
              </a:rPr>
              <a:t>Unmanned/Robotics</a:t>
            </a:r>
            <a:r>
              <a:rPr sz="1500" spc="14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System</a:t>
            </a:r>
            <a:endParaRPr sz="1500">
              <a:latin typeface="Times New Roman"/>
              <a:cs typeface="Times New Roman"/>
            </a:endParaRPr>
          </a:p>
          <a:p>
            <a:pPr marL="142875" indent="-121285">
              <a:lnSpc>
                <a:spcPct val="100000"/>
              </a:lnSpc>
              <a:spcBef>
                <a:spcPts val="10"/>
              </a:spcBef>
              <a:buClr>
                <a:srgbClr val="161616"/>
              </a:buClr>
              <a:buChar char="•"/>
              <a:tabLst>
                <a:tab pos="142875" algn="l"/>
              </a:tabLst>
            </a:pPr>
            <a:r>
              <a:rPr sz="1500" spc="30" dirty="0">
                <a:solidFill>
                  <a:srgbClr val="3D3D3D"/>
                </a:solidFill>
                <a:latin typeface="Times New Roman"/>
                <a:cs typeface="Times New Roman"/>
              </a:rPr>
              <a:t>Develop</a:t>
            </a:r>
            <a:r>
              <a:rPr sz="1500" spc="18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3D3D3D"/>
                </a:solidFill>
                <a:latin typeface="Times New Roman"/>
                <a:cs typeface="Times New Roman"/>
              </a:rPr>
              <a:t>Penetration </a:t>
            </a:r>
            <a:r>
              <a:rPr sz="1500" spc="70" dirty="0">
                <a:solidFill>
                  <a:srgbClr val="3D3D3D"/>
                </a:solidFill>
                <a:latin typeface="Times New Roman"/>
                <a:cs typeface="Times New Roman"/>
              </a:rPr>
              <a:t>Tests</a:t>
            </a:r>
            <a:r>
              <a:rPr sz="1500" spc="-114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500" spc="55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15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20" dirty="0">
                <a:solidFill>
                  <a:srgbClr val="282828"/>
                </a:solidFill>
                <a:latin typeface="Times New Roman"/>
                <a:cs typeface="Times New Roman"/>
              </a:rPr>
              <a:t>Examp</a:t>
            </a:r>
            <a:r>
              <a:rPr sz="1500" spc="20" dirty="0">
                <a:solidFill>
                  <a:srgbClr val="5E5E5E"/>
                </a:solidFill>
                <a:latin typeface="Times New Roman"/>
                <a:cs typeface="Times New Roman"/>
              </a:rPr>
              <a:t>l</a:t>
            </a:r>
            <a:r>
              <a:rPr sz="1500" spc="20" dirty="0">
                <a:solidFill>
                  <a:srgbClr val="282828"/>
                </a:solidFill>
                <a:latin typeface="Times New Roman"/>
                <a:cs typeface="Times New Roman"/>
              </a:rPr>
              <a:t>e</a:t>
            </a:r>
            <a:r>
              <a:rPr sz="1500" spc="3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500" spc="30" dirty="0">
                <a:solidFill>
                  <a:srgbClr val="4F4F4F"/>
                </a:solidFill>
                <a:latin typeface="Times New Roman"/>
                <a:cs typeface="Times New Roman"/>
              </a:rPr>
              <a:t>Unmanned/Robotics</a:t>
            </a:r>
            <a:r>
              <a:rPr sz="1500" spc="9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D3D3D"/>
                </a:solidFill>
                <a:latin typeface="Times New Roman"/>
                <a:cs typeface="Times New Roman"/>
              </a:rPr>
              <a:t>System</a:t>
            </a:r>
            <a:endParaRPr sz="15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solidFill>
                  <a:srgbClr val="5E5E5E"/>
                </a:solidFill>
                <a:latin typeface="Times New Roman"/>
                <a:cs typeface="Times New Roman"/>
              </a:rPr>
              <a:t>Interface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8447" y="5242665"/>
            <a:ext cx="455422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0"/>
              </a:spcBef>
              <a:buClr>
                <a:srgbClr val="050505"/>
              </a:buClr>
              <a:buSzPct val="106060"/>
              <a:buChar char="•"/>
              <a:tabLst>
                <a:tab pos="390525" algn="l"/>
              </a:tabLst>
            </a:pPr>
            <a:r>
              <a:rPr sz="1650" spc="-10" dirty="0">
                <a:solidFill>
                  <a:srgbClr val="161616"/>
                </a:solidFill>
                <a:latin typeface="Arial"/>
                <a:cs typeface="Arial"/>
              </a:rPr>
              <a:t>Placed</a:t>
            </a:r>
            <a:r>
              <a:rPr sz="1650" spc="-17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D3D3D"/>
                </a:solidFill>
                <a:latin typeface="Arial"/>
                <a:cs typeface="Arial"/>
              </a:rPr>
              <a:t>in</a:t>
            </a:r>
            <a:r>
              <a:rPr sz="1650" spc="10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650" spc="-70" dirty="0">
                <a:solidFill>
                  <a:srgbClr val="282828"/>
                </a:solidFill>
                <a:latin typeface="Arial"/>
                <a:cs typeface="Arial"/>
              </a:rPr>
              <a:t>GVS</a:t>
            </a:r>
            <a:r>
              <a:rPr sz="1650" spc="-2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-35" dirty="0">
                <a:solidFill>
                  <a:srgbClr val="3D3D3D"/>
                </a:solidFill>
                <a:latin typeface="Arial"/>
                <a:cs typeface="Arial"/>
              </a:rPr>
              <a:t>OTA</a:t>
            </a:r>
            <a:r>
              <a:rPr sz="1650" spc="-204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61616"/>
                </a:solidFill>
                <a:latin typeface="Arial"/>
                <a:cs typeface="Arial"/>
              </a:rPr>
              <a:t>Basket</a:t>
            </a:r>
            <a:r>
              <a:rPr sz="1650" spc="-11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D3D3D"/>
                </a:solidFill>
                <a:latin typeface="Arial"/>
                <a:cs typeface="Arial"/>
              </a:rPr>
              <a:t>on:</a:t>
            </a:r>
            <a:r>
              <a:rPr sz="1650" spc="29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282828"/>
                </a:solidFill>
                <a:latin typeface="Arial"/>
                <a:cs typeface="Arial"/>
              </a:rPr>
              <a:t>25</a:t>
            </a:r>
            <a:r>
              <a:rPr sz="1650" spc="-2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90" dirty="0">
                <a:solidFill>
                  <a:srgbClr val="282828"/>
                </a:solidFill>
                <a:latin typeface="Arial"/>
                <a:cs typeface="Arial"/>
              </a:rPr>
              <a:t>May</a:t>
            </a:r>
            <a:r>
              <a:rPr sz="1650" spc="-6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282828"/>
                </a:solidFill>
                <a:latin typeface="Arial"/>
                <a:cs typeface="Arial"/>
              </a:rPr>
              <a:t>2017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67351" y="4776540"/>
            <a:ext cx="185229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u="heavy" spc="-10" dirty="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Arial"/>
                <a:cs typeface="Arial"/>
              </a:rPr>
              <a:t>Concept/Team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68552" y="6053528"/>
            <a:ext cx="3265170" cy="1545590"/>
          </a:xfrm>
          <a:prstGeom prst="rect">
            <a:avLst/>
          </a:prstGeom>
          <a:ln w="1275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200">
              <a:latin typeface="Times New Roman"/>
              <a:cs typeface="Times New Roman"/>
            </a:endParaRPr>
          </a:p>
          <a:p>
            <a:pPr marL="132080">
              <a:lnSpc>
                <a:spcPct val="100000"/>
              </a:lnSpc>
            </a:pPr>
            <a:r>
              <a:rPr sz="1200" spc="-90" dirty="0">
                <a:solidFill>
                  <a:srgbClr val="778EA3"/>
                </a:solidFill>
                <a:latin typeface="Arial"/>
                <a:cs typeface="Arial"/>
              </a:rPr>
              <a:t>GE</a:t>
            </a:r>
            <a:r>
              <a:rPr sz="1200" spc="-120" dirty="0">
                <a:solidFill>
                  <a:srgbClr val="778EA3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778EA3"/>
                </a:solidFill>
                <a:latin typeface="Arial"/>
                <a:cs typeface="Arial"/>
              </a:rPr>
              <a:t>MlOO</a:t>
            </a:r>
            <a:r>
              <a:rPr sz="1200" spc="-165" dirty="0">
                <a:solidFill>
                  <a:srgbClr val="778EA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778EA3"/>
                </a:solidFill>
                <a:latin typeface="Arial"/>
                <a:cs typeface="Arial"/>
              </a:rPr>
              <a:t>Cyber</a:t>
            </a:r>
            <a:r>
              <a:rPr sz="1200" spc="-114" dirty="0">
                <a:solidFill>
                  <a:srgbClr val="778EA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0798E"/>
                </a:solidFill>
                <a:latin typeface="Arial"/>
                <a:cs typeface="Arial"/>
              </a:rPr>
              <a:t>Enab</a:t>
            </a:r>
            <a:r>
              <a:rPr sz="1200" dirty="0">
                <a:solidFill>
                  <a:srgbClr val="A5A5A5"/>
                </a:solidFill>
                <a:latin typeface="Arial"/>
                <a:cs typeface="Arial"/>
              </a:rPr>
              <a:t>l</a:t>
            </a:r>
            <a:r>
              <a:rPr sz="1200" dirty="0">
                <a:solidFill>
                  <a:srgbClr val="778EA3"/>
                </a:solidFill>
                <a:latin typeface="Arial"/>
                <a:cs typeface="Arial"/>
              </a:rPr>
              <a:t>ed</a:t>
            </a:r>
            <a:r>
              <a:rPr sz="1200" spc="-15" dirty="0">
                <a:solidFill>
                  <a:srgbClr val="778EA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78EA3"/>
                </a:solidFill>
                <a:latin typeface="Arial"/>
                <a:cs typeface="Arial"/>
              </a:rPr>
              <a:t>Compute</a:t>
            </a:r>
            <a:r>
              <a:rPr sz="1200" spc="60" dirty="0">
                <a:solidFill>
                  <a:srgbClr val="778EA3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778EA3"/>
                </a:solidFill>
                <a:latin typeface="Arial"/>
                <a:cs typeface="Arial"/>
              </a:rPr>
              <a:t>P</a:t>
            </a:r>
            <a:r>
              <a:rPr sz="1200" spc="35" dirty="0">
                <a:solidFill>
                  <a:srgbClr val="A5A5A5"/>
                </a:solidFill>
                <a:latin typeface="Arial"/>
                <a:cs typeface="Arial"/>
              </a:rPr>
              <a:t>l</a:t>
            </a:r>
            <a:r>
              <a:rPr sz="1200" spc="35" dirty="0">
                <a:solidFill>
                  <a:srgbClr val="778EA3"/>
                </a:solidFill>
                <a:latin typeface="Arial"/>
                <a:cs typeface="Arial"/>
              </a:rPr>
              <a:t>atform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6826" y="8036863"/>
            <a:ext cx="563816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sz="1650" spc="20" dirty="0">
                <a:solidFill>
                  <a:srgbClr val="282828"/>
                </a:solidFill>
                <a:latin typeface="Arial"/>
                <a:cs typeface="Arial"/>
              </a:rPr>
              <a:t>Principal</a:t>
            </a:r>
            <a:r>
              <a:rPr sz="1650" spc="-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3D3D3D"/>
                </a:solidFill>
                <a:latin typeface="Arial"/>
                <a:cs typeface="Arial"/>
              </a:rPr>
              <a:t>Investigator</a:t>
            </a:r>
            <a:r>
              <a:rPr sz="1650" spc="21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650" spc="20" dirty="0">
                <a:solidFill>
                  <a:srgbClr val="161616"/>
                </a:solidFill>
                <a:latin typeface="Arial"/>
                <a:cs typeface="Arial"/>
              </a:rPr>
              <a:t>John</a:t>
            </a:r>
            <a:r>
              <a:rPr sz="1650" spc="-15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50" spc="20" dirty="0">
                <a:solidFill>
                  <a:srgbClr val="282828"/>
                </a:solidFill>
                <a:latin typeface="Arial"/>
                <a:cs typeface="Arial"/>
              </a:rPr>
              <a:t>Kormash</a:t>
            </a:r>
            <a:r>
              <a:rPr sz="1650" spc="-19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20" dirty="0">
                <a:solidFill>
                  <a:srgbClr val="282828"/>
                </a:solidFill>
                <a:latin typeface="Arial"/>
                <a:cs typeface="Arial"/>
              </a:rPr>
              <a:t>GE-</a:t>
            </a:r>
            <a:r>
              <a:rPr sz="1650" spc="10" dirty="0">
                <a:solidFill>
                  <a:srgbClr val="282828"/>
                </a:solidFill>
                <a:latin typeface="Arial"/>
                <a:cs typeface="Arial"/>
              </a:rPr>
              <a:t>Aviation</a:t>
            </a:r>
            <a:r>
              <a:rPr sz="1650" spc="-1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282828"/>
                </a:solidFill>
                <a:latin typeface="Arial"/>
                <a:cs typeface="Arial"/>
              </a:rPr>
              <a:t>Systems </a:t>
            </a:r>
            <a:r>
              <a:rPr sz="1650" dirty="0">
                <a:solidFill>
                  <a:srgbClr val="282828"/>
                </a:solidFill>
                <a:latin typeface="Arial"/>
                <a:cs typeface="Arial"/>
              </a:rPr>
              <a:t>Prime</a:t>
            </a:r>
            <a:r>
              <a:rPr sz="1650" spc="-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282828"/>
                </a:solidFill>
                <a:latin typeface="Arial"/>
                <a:cs typeface="Arial"/>
              </a:rPr>
              <a:t>&amp;</a:t>
            </a:r>
            <a:r>
              <a:rPr sz="1650" spc="3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282828"/>
                </a:solidFill>
                <a:latin typeface="Arial"/>
                <a:cs typeface="Arial"/>
              </a:rPr>
              <a:t>PM</a:t>
            </a:r>
            <a:r>
              <a:rPr sz="1650" spc="70" dirty="0">
                <a:solidFill>
                  <a:srgbClr val="161616"/>
                </a:solidFill>
                <a:latin typeface="Arial"/>
                <a:cs typeface="Arial"/>
              </a:rPr>
              <a:t>Jerry</a:t>
            </a:r>
            <a:r>
              <a:rPr sz="1650" spc="13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sz="1650" dirty="0">
                <a:solidFill>
                  <a:srgbClr val="3D3D3D"/>
                </a:solidFill>
                <a:latin typeface="Arial"/>
                <a:cs typeface="Arial"/>
              </a:rPr>
              <a:t>ane</a:t>
            </a:r>
            <a:r>
              <a:rPr sz="1650" spc="25" dirty="0">
                <a:solidFill>
                  <a:srgbClr val="3D3D3D"/>
                </a:solidFill>
                <a:latin typeface="Arial"/>
                <a:cs typeface="Arial"/>
              </a:rPr>
              <a:t>  </a:t>
            </a:r>
            <a:r>
              <a:rPr sz="1650" spc="-10" dirty="0">
                <a:solidFill>
                  <a:srgbClr val="282828"/>
                </a:solidFill>
                <a:latin typeface="Arial"/>
                <a:cs typeface="Arial"/>
                <a:hlinkClick r:id="rId2"/>
              </a:rPr>
              <a:t>GLS&amp;TGerald.lane50@gmail.com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3269" y="8856733"/>
            <a:ext cx="93116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solidFill>
                  <a:srgbClr val="A5A5A5"/>
                </a:solidFill>
                <a:latin typeface="Arial"/>
                <a:cs typeface="Arial"/>
              </a:rPr>
              <a:t>GEAviation</a:t>
            </a:r>
            <a:r>
              <a:rPr sz="1000" b="1" spc="-4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A5A5A5"/>
                </a:solidFill>
                <a:latin typeface="Arial"/>
                <a:cs typeface="Arial"/>
              </a:rPr>
              <a:t>Proprietary</a:t>
            </a:r>
            <a:r>
              <a:rPr sz="1000" b="1" spc="-6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A5A5A5"/>
                </a:solidFill>
                <a:latin typeface="Arial"/>
                <a:cs typeface="Arial"/>
              </a:rPr>
              <a:t>information.</a:t>
            </a:r>
            <a:r>
              <a:rPr sz="1000" b="1" spc="18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A5A5A5"/>
                </a:solidFill>
                <a:latin typeface="Arial"/>
                <a:cs typeface="Arial"/>
              </a:rPr>
              <a:t>Onl</a:t>
            </a:r>
            <a:r>
              <a:rPr sz="1000" b="1" spc="-40" dirty="0">
                <a:solidFill>
                  <a:srgbClr val="BDBDBD"/>
                </a:solidFill>
                <a:latin typeface="Arial"/>
                <a:cs typeface="Arial"/>
              </a:rPr>
              <a:t>y</a:t>
            </a:r>
            <a:r>
              <a:rPr sz="1000" b="1" spc="35" dirty="0">
                <a:solidFill>
                  <a:srgbClr val="BDBDB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A5A5A5"/>
                </a:solidFill>
                <a:latin typeface="Arial"/>
                <a:cs typeface="Arial"/>
              </a:rPr>
              <a:t>membe�ofthe</a:t>
            </a:r>
            <a:r>
              <a:rPr sz="1000" b="1" spc="40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BDBDBD"/>
                </a:solidFill>
                <a:latin typeface="Arial"/>
                <a:cs typeface="Arial"/>
              </a:rPr>
              <a:t>V</a:t>
            </a:r>
            <a:r>
              <a:rPr sz="1000" b="1" dirty="0">
                <a:solidFill>
                  <a:srgbClr val="A5A5A5"/>
                </a:solidFill>
                <a:latin typeface="Arial"/>
                <a:cs typeface="Arial"/>
              </a:rPr>
              <a:t>RA</a:t>
            </a:r>
            <a:r>
              <a:rPr sz="1050" dirty="0">
                <a:solidFill>
                  <a:srgbClr val="A5A5A5"/>
                </a:solidFill>
                <a:latin typeface="Times New Roman"/>
                <a:cs typeface="Times New Roman"/>
              </a:rPr>
              <a:t>(i.e.</a:t>
            </a:r>
            <a:r>
              <a:rPr sz="1050" spc="-105" dirty="0">
                <a:solidFill>
                  <a:srgbClr val="A5A5A5"/>
                </a:solidFill>
                <a:latin typeface="Times New Roman"/>
                <a:cs typeface="Times New Roman"/>
              </a:rPr>
              <a:t> </a:t>
            </a:r>
            <a:r>
              <a:rPr sz="1000" b="1" spc="-50" dirty="0">
                <a:solidFill>
                  <a:srgbClr val="A5A5A5"/>
                </a:solidFill>
                <a:latin typeface="Arial"/>
                <a:cs typeface="Arial"/>
              </a:rPr>
              <a:t>GOV</a:t>
            </a:r>
            <a:r>
              <a:rPr sz="1000" b="1" spc="-12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A5A5A5"/>
                </a:solidFill>
                <a:latin typeface="Arial"/>
                <a:cs typeface="Arial"/>
              </a:rPr>
              <a:t>only</a:t>
            </a:r>
            <a:r>
              <a:rPr sz="1000" b="1" dirty="0">
                <a:solidFill>
                  <a:srgbClr val="BDBDBD"/>
                </a:solidFill>
                <a:latin typeface="Arial"/>
                <a:cs typeface="Arial"/>
              </a:rPr>
              <a:t>)</a:t>
            </a:r>
            <a:r>
              <a:rPr sz="1000" b="1" dirty="0">
                <a:solidFill>
                  <a:srgbClr val="A5A5A5"/>
                </a:solidFill>
                <a:latin typeface="Arial"/>
                <a:cs typeface="Arial"/>
              </a:rPr>
              <a:t>with</a:t>
            </a:r>
            <a:r>
              <a:rPr sz="1000" b="1" spc="-15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A5A5A5"/>
                </a:solidFill>
                <a:latin typeface="Arial"/>
                <a:cs typeface="Arial"/>
              </a:rPr>
              <a:t>officialOMENon-</a:t>
            </a:r>
            <a:r>
              <a:rPr sz="1000" b="1" spc="-30" dirty="0">
                <a:solidFill>
                  <a:srgbClr val="A5A5A5"/>
                </a:solidFill>
                <a:latin typeface="Arial"/>
                <a:cs typeface="Arial"/>
              </a:rPr>
              <a:t>OisdosureAgreementswillb-</a:t>
            </a:r>
            <a:r>
              <a:rPr sz="1000" b="1" spc="-20" dirty="0">
                <a:solidFill>
                  <a:srgbClr val="A5A5A5"/>
                </a:solidFill>
                <a:latin typeface="Arial"/>
                <a:cs typeface="Arial"/>
              </a:rPr>
              <a:t>eallowed</a:t>
            </a:r>
            <a:r>
              <a:rPr sz="1000" b="1" spc="-130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A5A5A5"/>
                </a:solidFill>
                <a:latin typeface="Arial"/>
                <a:cs typeface="Arial"/>
              </a:rPr>
              <a:t>to</a:t>
            </a:r>
            <a:r>
              <a:rPr sz="1000" b="1" spc="-50" dirty="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sz="1000" b="1" spc="-75" dirty="0">
                <a:solidFill>
                  <a:srgbClr val="A5A5A5"/>
                </a:solidFill>
                <a:latin typeface="Arial"/>
                <a:cs typeface="Arial"/>
              </a:rPr>
              <a:t>access-</a:t>
            </a:r>
            <a:r>
              <a:rPr sz="1000" b="1" spc="-10" dirty="0">
                <a:solidFill>
                  <a:srgbClr val="A5A5A5"/>
                </a:solidFill>
                <a:latin typeface="Arial"/>
                <a:cs typeface="Arial"/>
              </a:rPr>
              <a:t>thisinformation.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8282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268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Kenneth Aiello</dc:creator>
  <cp:lastModifiedBy>Kenneth Aiello</cp:lastModifiedBy>
  <cp:revision>1</cp:revision>
  <dcterms:created xsi:type="dcterms:W3CDTF">2025-10-21T01:28:23Z</dcterms:created>
  <dcterms:modified xsi:type="dcterms:W3CDTF">2025-10-21T01:28:45Z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2025-10-20T00:00:00Z</vt:filetime>
  </property>
  <property fmtid="{D5CDD505-2E9C-101B-9397-08002B2CF9AE}" pid="3" name="Creator">
    <vt:lpwstr>Adobe Acrobat 25.1</vt:lpwstr>
  </property>
  <property fmtid="{D5CDD505-2E9C-101B-9397-08002B2CF9AE}" pid="4" name="LastSaved">
    <vt:filetime>2025-10-21T00:00:00Z</vt:filetime>
  </property>
  <property fmtid="{D5CDD505-2E9C-101B-9397-08002B2CF9AE}" pid="5" name="Producer">
    <vt:lpwstr>Adobe Acrobat 25.1 Image Conversion Plug-in</vt:lpwstr>
  </property>
</Properties>
</file>