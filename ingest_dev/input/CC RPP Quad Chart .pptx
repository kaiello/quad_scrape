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2_6066EBC3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5"/>
  </p:sldMasterIdLst>
  <p:notesMasterIdLst>
    <p:notesMasterId r:id="rId7"/>
  </p:notesMasterIdLst>
  <p:sldIdLst>
    <p:sldId id="258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3BEEAB-3433-BCDB-6F14-C9E36E4AD29D}" name="Matt Payne" initials="MP" userId="S::Matthew.Payne@ibm.com::0b60067f-2159-421b-9bad-70d79015b24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C4E"/>
    <a:srgbClr val="265CAA"/>
    <a:srgbClr val="E21E26"/>
    <a:srgbClr val="245B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8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comments/modernComment_102_6066EBC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10F1F54-4582-4E7E-B17D-F896FBAE64DE}" authorId="{BB3BEEAB-3433-BCDB-6F14-C9E36E4AD29D}" created="2025-10-13T15:20:47.34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617357763" sldId="258"/>
      <ac:spMk id="12" creationId="{00000000-0000-0000-0000-000000000000}"/>
      <ac:txMk cp="4" len="26">
        <ac:context len="295" hash="745898059"/>
      </ac:txMk>
    </ac:txMkLst>
    <p188:pos x="2142479" y="261958"/>
    <p188:txBody>
      <a:bodyPr/>
      <a:lstStyle/>
      <a:p>
        <a:r>
          <a:rPr lang="en-US"/>
          <a:t>Purpose / summary of what this allows.</a:t>
        </a:r>
      </a:p>
    </p188:txBody>
  </p188:cm>
  <p188:cm id="{F83B1D4A-C7F4-4F46-90B2-605477073C50}" authorId="{BB3BEEAB-3433-BCDB-6F14-C9E36E4AD29D}" created="2025-10-13T15:21:00.06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617357763" sldId="258"/>
      <ac:spMk id="27" creationId="{00000000-0000-0000-0000-000000000000}"/>
      <ac:txMk cp="0" len="18">
        <ac:context len="121" hash="2347927329"/>
      </ac:txMk>
    </ac:txMkLst>
    <p188:pos x="1156996" y="257277"/>
    <p188:txBody>
      <a:bodyPr/>
      <a:lstStyle/>
      <a:p>
        <a:r>
          <a:rPr lang="en-US"/>
          <a:t>PoC to contact / email address</a:t>
        </a:r>
      </a:p>
    </p188:txBody>
  </p188:cm>
  <p188:cm id="{19367EC3-CF33-47A2-8C18-101040A982E8}" authorId="{BB3BEEAB-3433-BCDB-6F14-C9E36E4AD29D}" created="2025-10-13T15:21:12.78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617357763" sldId="258"/>
      <ac:spMk id="11" creationId="{00000000-0000-0000-0000-000000000000}"/>
      <ac:txMk cp="59" len="22">
        <ac:context len="260" hash="421750522"/>
      </ac:txMk>
    </ac:txMkLst>
    <p188:pos x="3162880" y="429181"/>
    <p188:txBody>
      <a:bodyPr/>
      <a:lstStyle/>
      <a:p>
        <a:r>
          <a:rPr lang="en-US"/>
          <a:t>Lead organization</a:t>
        </a:r>
      </a:p>
    </p188:txBody>
  </p188:cm>
  <p188:cm id="{CC89A37A-B087-4D05-B76E-18A76AD50347}" authorId="{BB3BEEAB-3433-BCDB-6F14-C9E36E4AD29D}" created="2025-10-13T15:21:23.18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617357763" sldId="258"/>
      <ac:spMk id="11" creationId="{00000000-0000-0000-0000-000000000000}"/>
      <ac:txMk cp="103" len="11">
        <ac:context len="260" hash="421750522"/>
      </ac:txMk>
    </ac:txMkLst>
    <p188:pos x="2351117" y="578471"/>
    <p188:txBody>
      <a:bodyPr/>
      <a:lstStyle/>
      <a:p>
        <a:r>
          <a:rPr lang="en-US"/>
          <a:t>Government group participating</a:t>
        </a:r>
      </a:p>
    </p188:txBody>
  </p188:cm>
  <p188:cm id="{6B251A1F-F799-4FDC-8F78-2B283F9F1CDA}" authorId="{BB3BEEAB-3433-BCDB-6F14-C9E36E4AD29D}" created="2025-10-13T15:21:43.94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617357763" sldId="258"/>
      <ac:spMk id="14" creationId="{00000000-0000-0000-0000-000000000000}"/>
    </ac:deMkLst>
    <p188:txBody>
      <a:bodyPr/>
      <a:lstStyle/>
      <a:p>
        <a:r>
          <a:rPr lang="en-US"/>
          <a:t>Readiness level.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1AC2CA-8C5C-48FC-8205-BAB06CD9B01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9B817-C63C-458B-ADD6-2A814AC84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68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9B817-C63C-458B-ADD6-2A814AC849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93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Blue">
    <p:bg>
      <p:bgPr>
        <a:gradFill>
          <a:gsLst>
            <a:gs pos="0">
              <a:srgbClr val="111C4E"/>
            </a:gs>
            <a:gs pos="100000">
              <a:srgbClr val="03133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1ABEE617-F3B1-4BA8-80B0-E2DBD0F3E4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705" y="2587"/>
            <a:ext cx="2292295" cy="22922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3709FA-39F7-417D-9469-D548065EBA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1259" y="314149"/>
            <a:ext cx="121781" cy="102553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4E4C7F-1EDF-4657-9BBA-0FCF66B9BB2D}"/>
              </a:ext>
            </a:extLst>
          </p:cNvPr>
          <p:cNvCxnSpPr>
            <a:cxnSpLocks/>
          </p:cNvCxnSpPr>
          <p:nvPr userDrawn="1"/>
        </p:nvCxnSpPr>
        <p:spPr>
          <a:xfrm>
            <a:off x="304800" y="4794871"/>
            <a:ext cx="5247774" cy="0"/>
          </a:xfrm>
          <a:prstGeom prst="line">
            <a:avLst/>
          </a:prstGeom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9574963-C4F3-4FAC-A935-56AE49BC8A8F}"/>
              </a:ext>
            </a:extLst>
          </p:cNvPr>
          <p:cNvCxnSpPr>
            <a:cxnSpLocks/>
          </p:cNvCxnSpPr>
          <p:nvPr userDrawn="1"/>
        </p:nvCxnSpPr>
        <p:spPr>
          <a:xfrm>
            <a:off x="5552574" y="4794871"/>
            <a:ext cx="1459539" cy="0"/>
          </a:xfrm>
          <a:prstGeom prst="line">
            <a:avLst/>
          </a:prstGeom>
          <a:ln>
            <a:solidFill>
              <a:srgbClr val="E21E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364762C-3350-4211-ADF3-8B9B94F8E6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8296" y="1342211"/>
            <a:ext cx="6783817" cy="113259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  <a:latin typeface="Franklin Gothic Medium Cond" panose="020B06060304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DB2D2ECA-6F5E-4B3F-8B36-049AA61094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8295" y="2475820"/>
            <a:ext cx="8687104" cy="69382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5BC82964-C87A-4F12-9EAF-9A16765D11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295" y="3227594"/>
            <a:ext cx="3158753" cy="15536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Name, Title, Organization, Event Name and/or Date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A40FB82-DA95-48C0-86A4-A7DA2A8FF8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54802" y="6016"/>
            <a:ext cx="4834397" cy="2286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classification/distribution statement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9145C9D-75BE-4977-B581-A079973C3F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54801" y="6623384"/>
            <a:ext cx="4834397" cy="2286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classification/distribution statement</a:t>
            </a:r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52052D11-E6D4-4A0F-BA0A-034EC037CA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399" y="3227594"/>
            <a:ext cx="3428998" cy="15536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Date, or additional information:  Controlled by, Category, Distribution, POC</a:t>
            </a:r>
          </a:p>
        </p:txBody>
      </p:sp>
      <p:sp>
        <p:nvSpPr>
          <p:cNvPr id="25" name="Text Placeholder 25">
            <a:extLst>
              <a:ext uri="{FF2B5EF4-FFF2-40B4-BE49-F238E27FC236}">
                <a16:creationId xmlns:a16="http://schemas.microsoft.com/office/drawing/2014/main" id="{5AAFDF7B-39BD-4A90-86C2-6FFAC30346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1259" y="4890898"/>
            <a:ext cx="8694138" cy="148583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distribution statements/disclaimers.  [AUTHOR: See DoDI 5230.24 for applicable distribution statement. Following is an example. ] Distribution Statement C: Distribution authorized to U.S. Government agencies and their contractors (reason) (date of determination). Other requests for this document shall be referred to (controlling DoD office).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in. </a:t>
            </a:r>
          </a:p>
        </p:txBody>
      </p:sp>
    </p:spTree>
    <p:extLst>
      <p:ext uri="{BB962C8B-B14F-4D97-AF65-F5344CB8AC3E}">
        <p14:creationId xmlns:p14="http://schemas.microsoft.com/office/powerpoint/2010/main" val="782363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61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28EAEE1B-11ED-4ECC-8D9E-DFC08E61AB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8296" y="1342211"/>
            <a:ext cx="6783817" cy="113259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rgbClr val="111C4E"/>
                </a:solidFill>
                <a:latin typeface="Franklin Gothic Medium Cond" panose="020B06060304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F42BD8F9-4DA6-4CBF-847E-7972F0B90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8295" y="2475820"/>
            <a:ext cx="8687104" cy="69382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rgbClr val="265CAA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3820D94B-2996-44AE-A29B-68BE3BEC6A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295" y="3227594"/>
            <a:ext cx="3158753" cy="15536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111C4E"/>
                </a:solidFill>
                <a:latin typeface="Arial Narrow" panose="020B0606020202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Name, Title, Organization, Event Name and/or Date</a:t>
            </a:r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1ABEE617-F3B1-4BA8-80B0-E2DBD0F3E4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705" y="2587"/>
            <a:ext cx="2292295" cy="22922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3709FA-39F7-417D-9469-D548065EBA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1259" y="314149"/>
            <a:ext cx="121781" cy="1025530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F7EB72D-1EE0-4FA5-9160-0A3ED98A085F}"/>
              </a:ext>
            </a:extLst>
          </p:cNvPr>
          <p:cNvSpPr txBox="1">
            <a:spLocks/>
          </p:cNvSpPr>
          <p:nvPr userDrawn="1"/>
        </p:nvSpPr>
        <p:spPr>
          <a:xfrm>
            <a:off x="3669552" y="9769"/>
            <a:ext cx="1816847" cy="27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00" kern="1200">
                <a:solidFill>
                  <a:srgbClr val="111C4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CUI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4E4C7F-1EDF-4657-9BBA-0FCF66B9BB2D}"/>
              </a:ext>
            </a:extLst>
          </p:cNvPr>
          <p:cNvCxnSpPr>
            <a:cxnSpLocks/>
          </p:cNvCxnSpPr>
          <p:nvPr userDrawn="1"/>
        </p:nvCxnSpPr>
        <p:spPr>
          <a:xfrm>
            <a:off x="304800" y="4794871"/>
            <a:ext cx="5247774" cy="0"/>
          </a:xfrm>
          <a:prstGeom prst="line">
            <a:avLst/>
          </a:prstGeom>
          <a:ln>
            <a:solidFill>
              <a:srgbClr val="265C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9574963-C4F3-4FAC-A935-56AE49BC8A8F}"/>
              </a:ext>
            </a:extLst>
          </p:cNvPr>
          <p:cNvCxnSpPr>
            <a:cxnSpLocks/>
          </p:cNvCxnSpPr>
          <p:nvPr userDrawn="1"/>
        </p:nvCxnSpPr>
        <p:spPr>
          <a:xfrm>
            <a:off x="5552574" y="4794871"/>
            <a:ext cx="1459539" cy="0"/>
          </a:xfrm>
          <a:prstGeom prst="line">
            <a:avLst/>
          </a:prstGeom>
          <a:ln>
            <a:solidFill>
              <a:srgbClr val="E21E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7F1B114-5115-4DF1-9ABF-D318F978ED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54802" y="6016"/>
            <a:ext cx="4834397" cy="2286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r>
              <a:rPr lang="en-US" dirty="0"/>
              <a:t>Click to add classification/distribution statement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B47298D-344D-4F0C-9C16-974284832A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54801" y="6623384"/>
            <a:ext cx="4834397" cy="2286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r>
              <a:rPr lang="en-US" dirty="0"/>
              <a:t>Click to add classification/distribution statement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DE355235-BFE5-4F18-972E-B631B27839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399" y="3227594"/>
            <a:ext cx="3428998" cy="15536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111C4E"/>
                </a:solidFill>
                <a:latin typeface="Arial Narrow" panose="020B0606020202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Date, or additional information:  Controlled by, Category, Distribution, POC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2FB89BE8-D9A7-4172-B76E-BB438A6D00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1259" y="4890898"/>
            <a:ext cx="8694138" cy="148583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111C4E"/>
                </a:solidFill>
                <a:latin typeface="Arial Narrow" panose="020B0606020202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distribution statements/disclaimers.  [AUTHOR: See DoDI 5230.24 for applicable distribution statement. Following is an example. ] Distribution Statement C: Distribution authorized to U.S. Government agencies and their contractors (reason) (date of determination). Other requests for this document shall be referred to (controlling DoD office).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laborum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in. </a:t>
            </a:r>
          </a:p>
        </p:txBody>
      </p:sp>
    </p:spTree>
    <p:extLst>
      <p:ext uri="{BB962C8B-B14F-4D97-AF65-F5344CB8AC3E}">
        <p14:creationId xmlns:p14="http://schemas.microsoft.com/office/powerpoint/2010/main" val="724650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61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4B9C6-08D4-40CE-ACFA-ED2DC0323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059" y="1825625"/>
            <a:ext cx="8711901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D8C4D18-4635-4507-A48C-AB6B0A3F7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551" y="384139"/>
            <a:ext cx="7598409" cy="677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Franklin Gothic Medium Cond" panose="020B06060304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D60AA789-09BB-4423-A82F-0E1240E92A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3840" y="6487247"/>
            <a:ext cx="11087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111C4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EA69302-EB98-4A76-B36F-0288D079362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C3B95E7-7BAE-412B-A418-ADEC0DCF31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59496" y="6487247"/>
            <a:ext cx="11406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111C4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5DF160-2252-4507-9087-606C83CDB7D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8608D5F-08AE-451E-A0EA-0C6338C6E8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67854" y="6016"/>
            <a:ext cx="6178215" cy="2286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classification/distribution statement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92DD8F1-F079-400A-B83F-31B689B03F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67853" y="6486859"/>
            <a:ext cx="6178215" cy="36512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r>
              <a:rPr lang="en-US" dirty="0"/>
              <a:t>Click to add classification/distribution statement</a:t>
            </a:r>
          </a:p>
        </p:txBody>
      </p:sp>
    </p:spTree>
    <p:extLst>
      <p:ext uri="{BB962C8B-B14F-4D97-AF65-F5344CB8AC3E}">
        <p14:creationId xmlns:p14="http://schemas.microsoft.com/office/powerpoint/2010/main" val="2779332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428B3-1457-44B1-A9A0-12C038157B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3840" y="1825625"/>
            <a:ext cx="422058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9E8E1-3B7B-4318-91B3-973E33D8D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9576" y="1825625"/>
            <a:ext cx="422058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E974C244-F3E4-47FF-89BC-DEE007B6E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551" y="384139"/>
            <a:ext cx="7547609" cy="677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49EC9373-C0D2-4EB8-AF37-1F4B9C2DD0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3840" y="6487247"/>
            <a:ext cx="11087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111C4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6BAD4EC-C1FB-496B-8995-4D41F5C497A4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65B3172-C0A4-4468-8D69-BF45D17E59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59496" y="6487247"/>
            <a:ext cx="11406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111C4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5DF160-2252-4507-9087-606C83CDB7D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5AE8E67-4632-491C-96D7-94AC0ACB77F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67854" y="6016"/>
            <a:ext cx="6178215" cy="2286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classification/distribution statement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947A16C-4054-445D-AEBD-AEFB569FD9F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67853" y="6486859"/>
            <a:ext cx="6178215" cy="36512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r>
              <a:rPr lang="en-US" dirty="0"/>
              <a:t>Click to add classification/distribution statement</a:t>
            </a:r>
          </a:p>
        </p:txBody>
      </p:sp>
    </p:spTree>
    <p:extLst>
      <p:ext uri="{BB962C8B-B14F-4D97-AF65-F5344CB8AC3E}">
        <p14:creationId xmlns:p14="http://schemas.microsoft.com/office/powerpoint/2010/main" val="973722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C878F-D5C6-4077-8095-4BEF9B3E0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302" y="1828800"/>
            <a:ext cx="4209098" cy="52136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Franklin Gothic Medium Cond" panose="020B06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7EF6D-CEAE-4BE5-8EE6-4E8118E54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1302" y="2499059"/>
            <a:ext cx="420909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CB83F1-4A9C-40E0-839A-C7CE141834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73600" y="1822784"/>
            <a:ext cx="4209098" cy="52136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Franklin Gothic Medium Cond" panose="020B06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FFE698-AB15-45FD-AD75-CB8EEE853D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73600" y="2493043"/>
            <a:ext cx="420909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C944CAD5-23EE-4C4C-A803-7446269BC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551" y="384139"/>
            <a:ext cx="7547609" cy="677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25577DAF-AB2F-4615-9114-3022BDB4D5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3840" y="6487247"/>
            <a:ext cx="11087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111C4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A8D5590-CF2A-4111-A30E-B19A91B5DBEB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9E6C2EBE-08F8-4100-A87F-B48FEB5D2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59496" y="6487247"/>
            <a:ext cx="11406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111C4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5DF160-2252-4507-9087-606C83CDB7D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3278088-05C5-47DC-ADAF-3F2FF3247D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67854" y="6016"/>
            <a:ext cx="6178215" cy="2286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classification/distribution statement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E28DF15-09BD-47C6-8796-B0D096954F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67853" y="6486859"/>
            <a:ext cx="6178215" cy="36512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r>
              <a:rPr lang="en-US" dirty="0"/>
              <a:t>Click to add classification/distribution statement</a:t>
            </a:r>
          </a:p>
        </p:txBody>
      </p:sp>
    </p:spTree>
    <p:extLst>
      <p:ext uri="{BB962C8B-B14F-4D97-AF65-F5344CB8AC3E}">
        <p14:creationId xmlns:p14="http://schemas.microsoft.com/office/powerpoint/2010/main" val="1950495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37C61EB-4341-48C2-BE2F-D1043D6FB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3840" y="6487247"/>
            <a:ext cx="11087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111C4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F0CCB62-EDFE-4C9D-9A78-AC67D90BB86F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73FE5A0-061E-476B-8578-8C82794C3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59496" y="6487247"/>
            <a:ext cx="11406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111C4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5DF160-2252-4507-9087-606C83CDB7D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DE4361E-F2F1-47E0-A6F7-DD44B5B634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67854" y="6016"/>
            <a:ext cx="6178215" cy="2286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classification/distribution statement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8FF3ABF-64B4-478D-89C3-6C224FFE6E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67853" y="6486859"/>
            <a:ext cx="6178215" cy="36512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/>
            </a:lvl1pPr>
          </a:lstStyle>
          <a:p>
            <a:r>
              <a:rPr lang="en-US" dirty="0"/>
              <a:t>Click to add classification/distribution statement</a:t>
            </a:r>
          </a:p>
        </p:txBody>
      </p:sp>
    </p:spTree>
    <p:extLst>
      <p:ext uri="{BB962C8B-B14F-4D97-AF65-F5344CB8AC3E}">
        <p14:creationId xmlns:p14="http://schemas.microsoft.com/office/powerpoint/2010/main" val="492959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0BCF8A6-00CE-4134-B1C2-1DF96AC7A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483" y="1624083"/>
            <a:ext cx="8647677" cy="4502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9D88727-B611-40B6-9928-DDD7511433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3840" y="6487247"/>
            <a:ext cx="11087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111C4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D161627-9332-44C1-8B6E-43BC1287BADD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B566B06-978E-4AE7-BDD2-023E03FB2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59496" y="6487247"/>
            <a:ext cx="11406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111C4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5DF160-2252-4507-9087-606C83CDB7D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B42D5B-54B7-4CAE-AF5D-D52CE6EDAC4D}"/>
              </a:ext>
            </a:extLst>
          </p:cNvPr>
          <p:cNvSpPr/>
          <p:nvPr userDrawn="1"/>
        </p:nvSpPr>
        <p:spPr>
          <a:xfrm>
            <a:off x="0" y="0"/>
            <a:ext cx="9144000" cy="1319981"/>
          </a:xfrm>
          <a:prstGeom prst="rect">
            <a:avLst/>
          </a:prstGeom>
          <a:solidFill>
            <a:srgbClr val="111C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B730DCB-EE14-40E3-AAD9-8952C2D735EA}"/>
              </a:ext>
            </a:extLst>
          </p:cNvPr>
          <p:cNvCxnSpPr>
            <a:cxnSpLocks/>
          </p:cNvCxnSpPr>
          <p:nvPr userDrawn="1"/>
        </p:nvCxnSpPr>
        <p:spPr>
          <a:xfrm>
            <a:off x="0" y="1321746"/>
            <a:ext cx="7759496" cy="0"/>
          </a:xfrm>
          <a:prstGeom prst="line">
            <a:avLst/>
          </a:prstGeom>
          <a:ln w="12700">
            <a:solidFill>
              <a:srgbClr val="265C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45BF01-B129-451A-8756-A006F28D07DA}"/>
              </a:ext>
            </a:extLst>
          </p:cNvPr>
          <p:cNvCxnSpPr>
            <a:cxnSpLocks/>
          </p:cNvCxnSpPr>
          <p:nvPr userDrawn="1"/>
        </p:nvCxnSpPr>
        <p:spPr>
          <a:xfrm flipH="1">
            <a:off x="7759496" y="1321746"/>
            <a:ext cx="1384505" cy="0"/>
          </a:xfrm>
          <a:prstGeom prst="line">
            <a:avLst/>
          </a:prstGeom>
          <a:ln w="12700">
            <a:solidFill>
              <a:srgbClr val="E21E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15A8F237-D214-4878-99CA-2CD38B17D79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3" y="1565"/>
            <a:ext cx="1345608" cy="1345608"/>
          </a:xfrm>
          <a:prstGeom prst="rect">
            <a:avLst/>
          </a:prstGeom>
        </p:spPr>
      </p:pic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EF73350-F4F2-4995-BF77-E67CAFD91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551" y="384139"/>
            <a:ext cx="7547609" cy="677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867381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677" r:id="rId3"/>
    <p:sldLayoutId id="2147483679" r:id="rId4"/>
    <p:sldLayoutId id="2147483680" r:id="rId5"/>
    <p:sldLayoutId id="2147483689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11C4E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11C4E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11C4E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C4E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11C4E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6066EBC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F7D26D-0CED-4CD2-B953-C5D84CE4D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551" y="384139"/>
            <a:ext cx="6406945" cy="67700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LAND-BASED ELECTROMAGNETIC RAILGUN (LB-EMRG)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1FD07-191C-4B26-BEA3-B63A1E211A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95DF160-2252-4507-9087-606C83CDB7D9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>
            <a:off x="308" y="3733800"/>
            <a:ext cx="9144000" cy="0"/>
          </a:xfrm>
          <a:prstGeom prst="line">
            <a:avLst/>
          </a:prstGeom>
          <a:noFill/>
          <a:ln w="28575">
            <a:solidFill>
              <a:srgbClr val="08186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Arial" pitchFamily="34" charset="0"/>
            </a:endParaRPr>
          </a:p>
        </p:txBody>
      </p:sp>
      <p:sp>
        <p:nvSpPr>
          <p:cNvPr id="8" name="Line 2"/>
          <p:cNvSpPr>
            <a:spLocks noChangeShapeType="1"/>
          </p:cNvSpPr>
          <p:nvPr/>
        </p:nvSpPr>
        <p:spPr bwMode="auto">
          <a:xfrm>
            <a:off x="4566354" y="1316071"/>
            <a:ext cx="2086" cy="5120267"/>
          </a:xfrm>
          <a:prstGeom prst="line">
            <a:avLst/>
          </a:prstGeom>
          <a:noFill/>
          <a:ln w="28575">
            <a:solidFill>
              <a:srgbClr val="08186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Arial" pitchFamily="34" charset="0"/>
            </a:endParaRPr>
          </a:p>
        </p:txBody>
      </p:sp>
      <p:sp>
        <p:nvSpPr>
          <p:cNvPr id="11" name="Rectangle 48"/>
          <p:cNvSpPr>
            <a:spLocks noChangeArrowheads="1"/>
          </p:cNvSpPr>
          <p:nvPr/>
        </p:nvSpPr>
        <p:spPr bwMode="auto">
          <a:xfrm>
            <a:off x="9528" y="3732272"/>
            <a:ext cx="4553267" cy="117724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91440" tIns="45720" rIns="91440" bIns="45720" anchor="t">
            <a:spAutoFit/>
          </a:bodyPr>
          <a:lstStyle/>
          <a:p>
            <a:pPr marL="114300" marR="0" lvl="0" indent="-1143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Arial"/>
                <a:ea typeface="+mn-ea"/>
                <a:cs typeface="Arial" charset="0"/>
              </a:rPr>
              <a:t>(U) Key Partners / Participants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 Arial"/>
              <a:ea typeface="+mn-ea"/>
              <a:cs typeface="Arial" charset="0"/>
            </a:endParaRPr>
          </a:p>
          <a:p>
            <a:pPr marL="112395" lvl="0" indent="-112395" defTabSz="91440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Lead (PL) Agency:  Missile Defense Agency</a:t>
            </a:r>
            <a:endParaRPr 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2395" indent="-112395" defTabSz="91440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rgbClr val="000000"/>
                </a:solidFill>
                <a:latin typeface="Arial"/>
                <a:cs typeface="Arial"/>
              </a:rPr>
              <a:t>Gov’t Contributors:  US</a:t>
            </a:r>
            <a:r>
              <a:rPr lang="en-US" sz="1000" dirty="0">
                <a:latin typeface="Arial"/>
                <a:cs typeface="Arial"/>
              </a:rPr>
              <a:t>INDOPACOM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2395" indent="-112395" defTabSz="91440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rgbClr val="000000"/>
                </a:solidFill>
                <a:latin typeface="Arial"/>
                <a:cs typeface="Arial"/>
              </a:rPr>
              <a:t>Transition Partners: USINDOPACOM, RCCTO, U.S. Army Futures Command</a:t>
            </a:r>
            <a:endParaRPr lang="en-US" sz="1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2395" indent="-112395" defTabSz="91440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rgbClr val="000000"/>
                </a:solidFill>
                <a:latin typeface="Arial"/>
                <a:cs typeface="Arial"/>
              </a:rPr>
              <a:t>Other Partners: GA-EMS, BAE, NSWC Dahlgren, TBE, APL, LLNL, more forthcoming </a:t>
            </a:r>
            <a:endParaRPr lang="en-US" sz="10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2" name="TextBox 2"/>
          <p:cNvSpPr txBox="1">
            <a:spLocks noChangeArrowheads="1"/>
          </p:cNvSpPr>
          <p:nvPr/>
        </p:nvSpPr>
        <p:spPr bwMode="auto">
          <a:xfrm>
            <a:off x="4575562" y="2705177"/>
            <a:ext cx="4543424" cy="931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marL="342900" indent="-342900" eaLnBrk="0" hangingPunct="0">
              <a:spcBef>
                <a:spcPct val="20000"/>
              </a:spcBef>
              <a:buChar char="•"/>
              <a:defRPr sz="2000" b="1">
                <a:solidFill>
                  <a:srgbClr val="000099"/>
                </a:solidFill>
                <a:latin typeface="Arial" charset="0"/>
              </a:defRPr>
            </a:lvl1pPr>
            <a:lvl2pPr eaLnBrk="0" hangingPunct="0">
              <a:spcBef>
                <a:spcPct val="20000"/>
              </a:spcBef>
              <a:buChar char="–"/>
              <a:defRPr sz="1600">
                <a:solidFill>
                  <a:srgbClr val="000000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Times New Roman" pitchFamily="18" charset="0"/>
              <a:buChar char="−"/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(U) Expected Operational Value</a:t>
            </a:r>
            <a:endParaRPr kumimoji="0" lang="en-US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12395" indent="-112395" defTabSz="914400" eaLnBrk="1" fontAlgn="base" hangingPunct="1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0" dirty="0">
                <a:solidFill>
                  <a:schemeClr val="tx1"/>
                </a:solidFill>
                <a:highlight>
                  <a:srgbClr val="FFFF00"/>
                </a:highlight>
                <a:latin typeface="Arial"/>
                <a:cs typeface="Arial"/>
              </a:rPr>
              <a:t>Greater maneuverability at greater ranges than other HVP systems</a:t>
            </a:r>
          </a:p>
          <a:p>
            <a:pPr marL="112395" indent="-112395" defTabSz="914400" eaLnBrk="1" fontAlgn="base" hangingPunct="1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0" dirty="0">
                <a:solidFill>
                  <a:schemeClr val="tx1"/>
                </a:solidFill>
                <a:highlight>
                  <a:srgbClr val="FFFF00"/>
                </a:highlight>
                <a:latin typeface="Arial"/>
                <a:cs typeface="Arial"/>
              </a:rPr>
              <a:t>Greater command agility allowing variation in defensive system selection</a:t>
            </a:r>
          </a:p>
          <a:p>
            <a:pPr marL="112395" indent="-112395" defTabSz="914400" eaLnBrk="1" fontAlgn="base" hangingPunct="1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0" dirty="0">
                <a:solidFill>
                  <a:schemeClr val="tx1"/>
                </a:solidFill>
                <a:highlight>
                  <a:srgbClr val="FFFF00"/>
                </a:highlight>
                <a:latin typeface="Arial"/>
                <a:cs typeface="Arial"/>
              </a:rPr>
              <a:t>Allows greater performance symmetry of defensive missile systems</a:t>
            </a:r>
          </a:p>
          <a:p>
            <a:pPr marL="112395" indent="-112395" defTabSz="914400" eaLnBrk="1" fontAlgn="base" hangingPunct="1">
              <a:lnSpc>
                <a:spcPct val="85000"/>
              </a:lnSpc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000" b="0" dirty="0">
                <a:solidFill>
                  <a:schemeClr val="tx1"/>
                </a:solidFill>
                <a:highlight>
                  <a:srgbClr val="FFFF00"/>
                </a:highlight>
                <a:latin typeface="Arial"/>
                <a:cs typeface="Arial"/>
              </a:rPr>
              <a:t>Capable of massing fires on threats from multiple locations</a:t>
            </a:r>
            <a:r>
              <a:rPr lang="en-US" sz="1000" b="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</a:p>
        </p:txBody>
      </p:sp>
      <p:sp>
        <p:nvSpPr>
          <p:cNvPr id="14" name="Rectangle 125"/>
          <p:cNvSpPr>
            <a:spLocks noChangeArrowheads="1"/>
          </p:cNvSpPr>
          <p:nvPr/>
        </p:nvSpPr>
        <p:spPr bwMode="auto">
          <a:xfrm>
            <a:off x="4562485" y="1347381"/>
            <a:ext cx="4581526" cy="1376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8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(U) Technology Description / Product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12395" indent="-112395" defTabSz="914400">
              <a:lnSpc>
                <a:spcPct val="85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Arial"/>
                <a:cs typeface="Arial"/>
              </a:rPr>
              <a:t>LB-EMRG fires the Hypervelocity Projectile (HVP) to Mach 7+ and 100 NM</a:t>
            </a:r>
          </a:p>
          <a:p>
            <a:pPr marL="112395" indent="-112395" defTabSz="914400">
              <a:lnSpc>
                <a:spcPct val="85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Accomplished 456 test flights and 23 successful intercepts</a:t>
            </a:r>
          </a:p>
          <a:p>
            <a:pPr marL="112395" indent="-112395" defTabSz="914400">
              <a:lnSpc>
                <a:spcPct val="85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Accomplished 20 rounds per min </a:t>
            </a:r>
          </a:p>
          <a:p>
            <a:pPr marL="112395" indent="-112395" defTabSz="914400">
              <a:lnSpc>
                <a:spcPct val="85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Hypervelocity Gun Weapon System (HGWS) is significantly outperformed by EMRG in flight tests</a:t>
            </a:r>
          </a:p>
          <a:p>
            <a:pPr marL="569595" lvl="1" indent="-112395" defTabSz="914400">
              <a:lnSpc>
                <a:spcPct val="85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Mach 4+ / range: 17-41 nm (depending on gun)</a:t>
            </a:r>
          </a:p>
          <a:p>
            <a:pPr marL="112395" indent="-112395" defTabSz="914400">
              <a:lnSpc>
                <a:spcPct val="85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rgbClr val="00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Starting TRL:	7	Ending TRL:  9</a:t>
            </a:r>
          </a:p>
        </p:txBody>
      </p:sp>
      <p:sp>
        <p:nvSpPr>
          <p:cNvPr id="15" name="Rectangle 139"/>
          <p:cNvSpPr>
            <a:spLocks noChangeArrowheads="1"/>
          </p:cNvSpPr>
          <p:nvPr/>
        </p:nvSpPr>
        <p:spPr bwMode="auto">
          <a:xfrm>
            <a:off x="13087" y="4793128"/>
            <a:ext cx="4600775" cy="1817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marL="114300" indent="-1143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71450" indent="-1714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14300" marR="0" lvl="0" indent="-114300" algn="l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(U) Key Deliverables</a:t>
            </a:r>
          </a:p>
          <a:p>
            <a:pPr marL="112395" lvl="1" indent="-112395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Upgraded System (from NSF Dahlgren)</a:t>
            </a:r>
          </a:p>
          <a:p>
            <a:pPr marL="112395" lvl="1" indent="-112395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000" dirty="0">
                <a:latin typeface="Arial"/>
                <a:cs typeface="Arial"/>
              </a:rPr>
              <a:t>System integration with IBCS and IFCN</a:t>
            </a:r>
            <a:endParaRPr lang="en-US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2395" lvl="1" indent="-112395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000" dirty="0">
                <a:latin typeface="Arial"/>
                <a:cs typeface="Arial"/>
              </a:rPr>
              <a:t>Operational</a:t>
            </a:r>
            <a:r>
              <a:rPr lang="en-US" altLang="en-US" sz="1000" dirty="0">
                <a:solidFill>
                  <a:srgbClr val="000000"/>
                </a:solidFill>
                <a:latin typeface="Arial"/>
                <a:cs typeface="Arial"/>
              </a:rPr>
              <a:t> Prototype</a:t>
            </a:r>
          </a:p>
          <a:p>
            <a:pPr marL="112395" lvl="1" indent="-112395" defTabSz="9144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000" dirty="0">
                <a:latin typeface="Arial"/>
                <a:cs typeface="Arial"/>
              </a:rPr>
              <a:t>Capability Delivery </a:t>
            </a:r>
            <a:endParaRPr lang="en-US" sz="1000" dirty="0"/>
          </a:p>
          <a:p>
            <a:pPr marL="112395" lvl="1" indent="-112395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Capable of massing fires on threats from multiple locations</a:t>
            </a:r>
          </a:p>
          <a:p>
            <a:pPr marL="112395" lvl="1" indent="-112395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32MJ LB-EMRG w/initial capability of 20 rounds/min </a:t>
            </a:r>
          </a:p>
          <a:p>
            <a:pPr marL="112395" lvl="1" indent="-112395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Enhanced demonstration to validate CONOPS for new deterrent system </a:t>
            </a:r>
          </a:p>
          <a:p>
            <a:pPr marL="112395" lvl="1" indent="-112395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AUKUS/Japan/ROK opportunity to co-develop tactical system, cross-AOR supply chain; Quad-Lateral effort to mitigate contested logistics threat by extreme depth of newly layered defense</a:t>
            </a:r>
          </a:p>
        </p:txBody>
      </p:sp>
      <p:sp>
        <p:nvSpPr>
          <p:cNvPr id="17" name="Rectangle 82"/>
          <p:cNvSpPr>
            <a:spLocks noChangeArrowheads="1"/>
          </p:cNvSpPr>
          <p:nvPr/>
        </p:nvSpPr>
        <p:spPr bwMode="auto">
          <a:xfrm>
            <a:off x="4582141" y="3736489"/>
            <a:ext cx="4607367" cy="86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marL="233363" indent="-233363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314450" algn="dec"/>
                <a:tab pos="2001838" algn="dec"/>
                <a:tab pos="2689225" algn="dec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314450" algn="dec"/>
                <a:tab pos="2001838" algn="dec"/>
                <a:tab pos="2689225" algn="dec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314450" algn="dec"/>
                <a:tab pos="2001838" algn="dec"/>
                <a:tab pos="2689225" algn="dec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314450" algn="dec"/>
                <a:tab pos="2001838" algn="dec"/>
                <a:tab pos="2689225" algn="dec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1314450" algn="dec"/>
                <a:tab pos="2001838" algn="dec"/>
                <a:tab pos="2689225" algn="dec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314450" algn="dec"/>
                <a:tab pos="2001838" algn="dec"/>
                <a:tab pos="2689225" algn="dec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314450" algn="dec"/>
                <a:tab pos="2001838" algn="dec"/>
                <a:tab pos="2689225" algn="dec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314450" algn="dec"/>
                <a:tab pos="2001838" algn="dec"/>
                <a:tab pos="2689225" algn="dec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314450" algn="dec"/>
                <a:tab pos="2001838" algn="dec"/>
                <a:tab pos="2689225" algn="dec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314450" algn="dec"/>
                <a:tab pos="2001838" algn="dec"/>
                <a:tab pos="2689225" algn="dec"/>
              </a:tabLst>
              <a:defRPr/>
            </a:pPr>
            <a:r>
              <a:rPr kumimoji="0" lang="en-US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(U) Transition Strategy</a:t>
            </a:r>
          </a:p>
          <a:p>
            <a:pPr marL="115888" lvl="1" indent="-115888" defTabSz="9144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000" dirty="0">
                <a:latin typeface="Arial"/>
                <a:cs typeface="Arial"/>
              </a:rPr>
              <a:t>MDA matures TRL to transition path for multiple stakeholders</a:t>
            </a:r>
          </a:p>
          <a:p>
            <a:pPr marL="115888" lvl="1" indent="-115888" defTabSz="9144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000" dirty="0">
                <a:latin typeface="Arial"/>
                <a:cs typeface="Arial"/>
              </a:rPr>
              <a:t>USAF to enhance the GLADIATR program for enhanced based defense</a:t>
            </a:r>
            <a:endParaRPr lang="en-US" sz="1000" dirty="0">
              <a:cs typeface="Calibri" panose="020F0502020204030204" pitchFamily="34" charset="0"/>
            </a:endParaRPr>
          </a:p>
          <a:p>
            <a:pPr marL="115888" lvl="1" indent="-115888" defTabSz="91440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000" dirty="0">
                <a:latin typeface="Arial"/>
                <a:cs typeface="Arial"/>
              </a:rPr>
              <a:t>U.S. Army: IAMD, Shoreline Defense, CUAS (types 1-3), Sub/Supersonic cruise missile defense, Large caliber rocket defense</a:t>
            </a:r>
          </a:p>
        </p:txBody>
      </p:sp>
      <p:sp>
        <p:nvSpPr>
          <p:cNvPr id="18" name="TextBox 38"/>
          <p:cNvSpPr txBox="1">
            <a:spLocks noChangeArrowheads="1"/>
          </p:cNvSpPr>
          <p:nvPr/>
        </p:nvSpPr>
        <p:spPr bwMode="auto">
          <a:xfrm>
            <a:off x="4582582" y="4483416"/>
            <a:ext cx="93647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rgbClr val="000099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1600">
                <a:solidFill>
                  <a:srgbClr val="000000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Times New Roman" pitchFamily="18" charset="0"/>
              <a:buChar char="−"/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(U) Funding</a:t>
            </a:r>
            <a:endParaRPr kumimoji="0" lang="en-US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83943" y="6552152"/>
            <a:ext cx="1951105" cy="2462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defTabSz="914400"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</a:rPr>
              <a:t>Revision Date: </a:t>
            </a:r>
            <a:r>
              <a:rPr lang="en-US" sz="1000" b="1" dirty="0">
                <a:solidFill>
                  <a:prstClr val="black"/>
                </a:solidFill>
                <a:latin typeface="Arial"/>
                <a:cs typeface="Arial"/>
              </a:rPr>
              <a:t>13/06/2024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2" name="Rectangle 82"/>
          <p:cNvSpPr>
            <a:spLocks noChangeArrowheads="1"/>
          </p:cNvSpPr>
          <p:nvPr/>
        </p:nvSpPr>
        <p:spPr bwMode="auto">
          <a:xfrm>
            <a:off x="4580893" y="5959682"/>
            <a:ext cx="4553593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33363" indent="-233363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314450" algn="dec"/>
                <a:tab pos="2001838" algn="dec"/>
                <a:tab pos="2689225" algn="dec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314450" algn="dec"/>
                <a:tab pos="2001838" algn="dec"/>
                <a:tab pos="2689225" algn="dec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314450" algn="dec"/>
                <a:tab pos="2001838" algn="dec"/>
                <a:tab pos="2689225" algn="dec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1314450" algn="dec"/>
                <a:tab pos="2001838" algn="dec"/>
                <a:tab pos="2689225" algn="dec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1314450" algn="dec"/>
                <a:tab pos="2001838" algn="dec"/>
                <a:tab pos="2689225" algn="dec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314450" algn="dec"/>
                <a:tab pos="2001838" algn="dec"/>
                <a:tab pos="2689225" algn="dec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314450" algn="dec"/>
                <a:tab pos="2001838" algn="dec"/>
                <a:tab pos="2689225" algn="dec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314450" algn="dec"/>
                <a:tab pos="2001838" algn="dec"/>
                <a:tab pos="2689225" algn="dec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1314450" algn="dec"/>
                <a:tab pos="2001838" algn="dec"/>
                <a:tab pos="2689225" algn="dec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314450" algn="dec"/>
                <a:tab pos="2001838" algn="dec"/>
                <a:tab pos="2689225" algn="dec"/>
              </a:tabLst>
              <a:defRPr/>
            </a:pPr>
            <a:r>
              <a:rPr kumimoji="0" lang="en-US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(U) Milestones</a:t>
            </a:r>
            <a:r>
              <a:rPr kumimoji="0" lang="en-US" altLang="en-US" sz="105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Leading to MUA and Fielded Capability</a:t>
            </a:r>
            <a:endParaRPr kumimoji="0" lang="en-US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12713" indent="-112713" defTabSz="914400">
              <a:spcBef>
                <a:spcPts val="0"/>
              </a:spcBef>
              <a:tabLst/>
              <a:defRPr/>
            </a:pP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Year 1: $13M Phase I design, integration, test and production</a:t>
            </a:r>
          </a:p>
          <a:p>
            <a:pPr marL="112713" indent="-112713" defTabSz="914400">
              <a:spcBef>
                <a:spcPts val="0"/>
              </a:spcBef>
              <a:tabLst/>
              <a:defRPr/>
            </a:pP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Year 2: $16M Phase 2 design, integration, test and mfg.</a:t>
            </a:r>
          </a:p>
          <a:p>
            <a:pPr marL="112713" indent="-112713" defTabSz="914400">
              <a:spcBef>
                <a:spcPts val="0"/>
              </a:spcBef>
              <a:tabLst/>
              <a:defRPr/>
            </a:pPr>
            <a:r>
              <a:rPr lang="en-US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Year 3: $21M Phase 3 test, evaluation and transition</a:t>
            </a:r>
            <a:endParaRPr kumimoji="0" lang="en-US" altLang="en-US" sz="105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 Box 52"/>
          <p:cNvSpPr txBox="1">
            <a:spLocks noChangeArrowheads="1"/>
          </p:cNvSpPr>
          <p:nvPr/>
        </p:nvSpPr>
        <p:spPr bwMode="auto">
          <a:xfrm>
            <a:off x="-6497" y="3424482"/>
            <a:ext cx="4551181" cy="286682"/>
          </a:xfrm>
          <a:prstGeom prst="rect">
            <a:avLst/>
          </a:prstGeom>
          <a:solidFill>
            <a:srgbClr val="C2E2EC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1" i="1" dirty="0">
                <a:solidFill>
                  <a:srgbClr val="00009A"/>
                </a:solidFill>
                <a:latin typeface=" Arial"/>
                <a:cs typeface="Arial"/>
              </a:rPr>
              <a:t>Lead Blocker, Integrated Air and Missile Defense of Guam</a:t>
            </a:r>
            <a:endParaRPr lang="en-US" sz="1200" i="1" dirty="0">
              <a:solidFill>
                <a:prstClr val="black"/>
              </a:solidFill>
              <a:latin typeface=" Arial"/>
              <a:cs typeface="Arial"/>
            </a:endParaRPr>
          </a:p>
        </p:txBody>
      </p:sp>
      <p:sp>
        <p:nvSpPr>
          <p:cNvPr id="27" name="Rectangle 82"/>
          <p:cNvSpPr>
            <a:spLocks noChangeArrowheads="1"/>
          </p:cNvSpPr>
          <p:nvPr/>
        </p:nvSpPr>
        <p:spPr bwMode="auto">
          <a:xfrm>
            <a:off x="0" y="6498086"/>
            <a:ext cx="3931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33363" indent="-233363" eaLnBrk="0" hangingPunct="0">
              <a:spcBef>
                <a:spcPct val="20000"/>
              </a:spcBef>
              <a:buChar char="•"/>
              <a:tabLst>
                <a:tab pos="1314450" algn="dec"/>
                <a:tab pos="2001838" algn="dec"/>
                <a:tab pos="2689225" algn="dec"/>
              </a:tabLst>
              <a:defRPr sz="2000" b="1">
                <a:solidFill>
                  <a:srgbClr val="000099"/>
                </a:solidFill>
                <a:latin typeface="Arial" charset="0"/>
              </a:defRPr>
            </a:lvl1pPr>
            <a:lvl2pPr marL="119063" indent="-119063" eaLnBrk="0" hangingPunct="0">
              <a:spcBef>
                <a:spcPct val="20000"/>
              </a:spcBef>
              <a:buChar char="–"/>
              <a:tabLst>
                <a:tab pos="1314450" algn="dec"/>
                <a:tab pos="2001838" algn="dec"/>
                <a:tab pos="2689225" algn="dec"/>
              </a:tabLst>
              <a:defRPr sz="1600">
                <a:solidFill>
                  <a:srgbClr val="000000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Times New Roman" pitchFamily="18" charset="0"/>
              <a:buChar char="−"/>
              <a:tabLst>
                <a:tab pos="1314450" algn="dec"/>
                <a:tab pos="2001838" algn="dec"/>
                <a:tab pos="2689225" algn="dec"/>
              </a:tabLst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tabLst>
                <a:tab pos="1314450" algn="dec"/>
                <a:tab pos="2001838" algn="dec"/>
                <a:tab pos="2689225" algn="dec"/>
              </a:tabLst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tabLst>
                <a:tab pos="1314450" algn="dec"/>
                <a:tab pos="2001838" algn="dec"/>
                <a:tab pos="2689225" algn="dec"/>
              </a:tabLst>
              <a:defRPr sz="1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314450" algn="dec"/>
                <a:tab pos="2001838" algn="dec"/>
                <a:tab pos="2689225" algn="dec"/>
              </a:tabLst>
              <a:defRPr sz="1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314450" algn="dec"/>
                <a:tab pos="2001838" algn="dec"/>
                <a:tab pos="2689225" algn="dec"/>
              </a:tabLst>
              <a:defRPr sz="1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314450" algn="dec"/>
                <a:tab pos="2001838" algn="dec"/>
                <a:tab pos="2689225" algn="dec"/>
              </a:tabLst>
              <a:defRPr sz="1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314450" algn="dec"/>
                <a:tab pos="2001838" algn="dec"/>
                <a:tab pos="2689225" algn="dec"/>
              </a:tabLst>
              <a:defRPr sz="1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lvl="1" indent="0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sz="900" b="1" dirty="0">
                <a:solidFill>
                  <a:schemeClr val="tx1"/>
                </a:solidFill>
                <a:highlight>
                  <a:srgbClr val="FFFF00"/>
                </a:highlight>
                <a:latin typeface=" Arial"/>
                <a:cs typeface="Arial" panose="020B0604020202020204" pitchFamily="34" charset="0"/>
              </a:rPr>
              <a:t>Proposal POC: </a:t>
            </a:r>
            <a:r>
              <a:rPr lang="en-US" sz="900" dirty="0">
                <a:solidFill>
                  <a:schemeClr val="tx1"/>
                </a:solidFill>
                <a:highlight>
                  <a:srgbClr val="FFFF00"/>
                </a:highlight>
                <a:latin typeface=" Arial"/>
                <a:cs typeface="Arial" panose="020B0604020202020204" pitchFamily="34" charset="0"/>
              </a:rPr>
              <a:t>Mr. Jason Dupuis, DRAPER, jdupuis@draper.com</a:t>
            </a:r>
          </a:p>
          <a:p>
            <a:pPr marL="0" lvl="1" indent="0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sz="900" b="1" dirty="0">
                <a:solidFill>
                  <a:schemeClr val="tx1"/>
                </a:solidFill>
                <a:highlight>
                  <a:srgbClr val="FFFF00"/>
                </a:highlight>
                <a:latin typeface=" Arial"/>
                <a:cs typeface="Arial" panose="020B0604020202020204" pitchFamily="34" charset="0"/>
              </a:rPr>
              <a:t>Proposal POC: </a:t>
            </a:r>
            <a:r>
              <a:rPr lang="en-US" sz="900" dirty="0">
                <a:solidFill>
                  <a:schemeClr val="tx1"/>
                </a:solidFill>
                <a:highlight>
                  <a:srgbClr val="FFFF00"/>
                </a:highlight>
                <a:latin typeface=" Arial"/>
                <a:cs typeface="Arial" panose="020B0604020202020204" pitchFamily="34" charset="0"/>
              </a:rPr>
              <a:t>Dr. Mock Abdelaal, DRAPER, mabdelaal@draper.com</a:t>
            </a:r>
            <a:endParaRPr lang="en-US" sz="900" dirty="0">
              <a:solidFill>
                <a:schemeClr val="tx1"/>
              </a:solidFill>
              <a:highlight>
                <a:srgbClr val="FFFF00"/>
              </a:highlight>
              <a:latin typeface=" Arial"/>
              <a:cs typeface="Arial" charset="0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044189"/>
              </p:ext>
            </p:extLst>
          </p:nvPr>
        </p:nvGraphicFramePr>
        <p:xfrm>
          <a:off x="4613862" y="4700066"/>
          <a:ext cx="4012645" cy="696912"/>
        </p:xfrm>
        <a:graphic>
          <a:graphicData uri="http://schemas.openxmlformats.org/drawingml/2006/table">
            <a:tbl>
              <a:tblPr/>
              <a:tblGrid>
                <a:gridCol w="1702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4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4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42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19063" marR="0" lvl="1" indent="-119063" algn="ctr" defTabSz="91431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ＭＳ Ｐゴシック"/>
                          <a:cs typeface="Arial" panose="020B0604020202020204" pitchFamily="34" charset="0"/>
                        </a:rPr>
                        <a:t>Cost Share-Cash ($K)</a:t>
                      </a:r>
                    </a:p>
                  </a:txBody>
                  <a:tcPr marL="6568" marR="6568" marT="6543" marB="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FY25</a:t>
                      </a:r>
                    </a:p>
                  </a:txBody>
                  <a:tcPr marL="6568" marR="6568" marT="6543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FY26</a:t>
                      </a:r>
                    </a:p>
                  </a:txBody>
                  <a:tcPr marL="6568" marR="6568" marT="6543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FY27</a:t>
                      </a:r>
                    </a:p>
                  </a:txBody>
                  <a:tcPr marL="6568" marR="6568" marT="6543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6568" marR="6568" marT="6543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2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19063" marR="0" lvl="1" indent="-119063" algn="l" defTabSz="914318" rtl="0" eaLnBrk="1" fontAlgn="base" latinLnBrk="0" hangingPunct="1">
                        <a:lnSpc>
                          <a:spcPct val="85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lang="en-US" sz="10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/>
                          <a:cs typeface="Arial" panose="020B0604020202020204" pitchFamily="34" charset="0"/>
                        </a:rPr>
                        <a:t>OSD / RPP</a:t>
                      </a:r>
                      <a:r>
                        <a:rPr lang="en-US" sz="1000" b="0" kern="120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/>
                          <a:cs typeface="Arial" panose="020B0604020202020204" pitchFamily="34" charset="0"/>
                        </a:rPr>
                        <a:t> Funds</a:t>
                      </a:r>
                      <a:endParaRPr lang="en-US" sz="1000" b="0" kern="12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ＭＳ Ｐゴシック"/>
                        <a:cs typeface="Arial" panose="020B0604020202020204" pitchFamily="34" charset="0"/>
                      </a:endParaRPr>
                    </a:p>
                  </a:txBody>
                  <a:tcPr marL="45714" marR="45714" marT="6543" marB="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E2E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$13M</a:t>
                      </a:r>
                    </a:p>
                  </a:txBody>
                  <a:tcPr marL="91427" marR="91427" marT="6543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$16M</a:t>
                      </a:r>
                    </a:p>
                  </a:txBody>
                  <a:tcPr marL="91427" marR="91427" marT="6543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$21M</a:t>
                      </a:r>
                    </a:p>
                  </a:txBody>
                  <a:tcPr marL="91427" marR="91427" marT="6543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$50M</a:t>
                      </a:r>
                    </a:p>
                  </a:txBody>
                  <a:tcPr marL="91427" marR="91427" marT="6543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2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119063" marR="0" lvl="1" indent="-119063" algn="l" defTabSz="914318" rtl="0" eaLnBrk="1" fontAlgn="base" latinLnBrk="0" hangingPunct="1">
                        <a:lnSpc>
                          <a:spcPct val="85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lang="en-US" sz="1000" b="0" kern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/>
                          <a:cs typeface="Arial" panose="020B0604020202020204" pitchFamily="34" charset="0"/>
                        </a:rPr>
                        <a:t>USINDOPACOM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/>
                        <a:cs typeface="Arial" panose="020B0604020202020204" pitchFamily="34" charset="0"/>
                      </a:endParaRPr>
                    </a:p>
                  </a:txBody>
                  <a:tcPr marL="45714" marR="45714" marT="6543" marB="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E2E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TBD</a:t>
                      </a:r>
                    </a:p>
                  </a:txBody>
                  <a:tcPr marL="91427" marR="91427" marT="6543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TBD</a:t>
                      </a:r>
                    </a:p>
                  </a:txBody>
                  <a:tcPr marL="91427" marR="91427" marT="6543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TBD</a:t>
                      </a:r>
                    </a:p>
                  </a:txBody>
                  <a:tcPr marL="91427" marR="91427" marT="6543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TBD</a:t>
                      </a:r>
                    </a:p>
                  </a:txBody>
                  <a:tcPr marL="91427" marR="91427" marT="6543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228">
                <a:tc>
                  <a:txBody>
                    <a:bodyPr/>
                    <a:lstStyle/>
                    <a:p>
                      <a:pPr marL="119063" marR="0" lvl="1" indent="-119063" algn="r" defTabSz="914318" rtl="0" eaLnBrk="1" fontAlgn="base" latinLnBrk="0" hangingPunct="1">
                        <a:lnSpc>
                          <a:spcPct val="85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45714" marR="45714" marT="6543" marB="0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2E2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$13M</a:t>
                      </a:r>
                    </a:p>
                  </a:txBody>
                  <a:tcPr marL="91427" marR="91427" marT="6543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$16M</a:t>
                      </a:r>
                    </a:p>
                  </a:txBody>
                  <a:tcPr marL="91427" marR="91427" marT="6543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$21M</a:t>
                      </a:r>
                    </a:p>
                  </a:txBody>
                  <a:tcPr marL="91427" marR="91427" marT="6543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$50M</a:t>
                      </a:r>
                    </a:p>
                  </a:txBody>
                  <a:tcPr marL="91427" marR="91427" marT="6543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666809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33CFABDC-18D8-FFF7-2693-D204E09BD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46" y="1433994"/>
            <a:ext cx="3194581" cy="176799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DC71473-27D8-19E2-6E22-5DCEC5B4AA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719" y="5390061"/>
            <a:ext cx="4026787" cy="63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35776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USDR&amp;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1478D91A69474DA7B329374E47CDD3" ma:contentTypeVersion="14" ma:contentTypeDescription="Create a new document." ma:contentTypeScope="" ma:versionID="cdb9a4b1e67e60cda6fdbcb1a616ebf3">
  <xsd:schema xmlns:xsd="http://www.w3.org/2001/XMLSchema" xmlns:xs="http://www.w3.org/2001/XMLSchema" xmlns:p="http://schemas.microsoft.com/office/2006/metadata/properties" xmlns:ns2="1fa32957-9a2a-452b-b863-51446bf47133" xmlns:ns3="a3332dde-d3c6-476b-b524-af209b23c1dc" targetNamespace="http://schemas.microsoft.com/office/2006/metadata/properties" ma:root="true" ma:fieldsID="7434ce98c5559fb67eb2c4d7816f2c74" ns2:_="" ns3:_="">
    <xsd:import namespace="1fa32957-9a2a-452b-b863-51446bf47133"/>
    <xsd:import namespace="a3332dde-d3c6-476b-b524-af209b23c1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a32957-9a2a-452b-b863-51446bf471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d4c9327-8f67-457d-8f14-326f738f8f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332dde-d3c6-476b-b524-af209b23c1d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7c7a8e98-f630-4f00-ad4f-c74f6d3988f1}" ma:internalName="TaxCatchAll" ma:showField="CatchAllData" ma:web="a3332dde-d3c6-476b-b524-af209b23c1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fa32957-9a2a-452b-b863-51446bf47133">
      <Terms xmlns="http://schemas.microsoft.com/office/infopath/2007/PartnerControls"/>
    </lcf76f155ced4ddcb4097134ff3c332f>
    <TaxCatchAll xmlns="a3332dde-d3c6-476b-b524-af209b23c1dc" xsi:nil="true"/>
  </documentManagement>
</p:properties>
</file>

<file path=customXml/item4.xml><?xml version="1.0" encoding="utf-8"?>
<titus xmlns="http://schemas.titus.com/TitusProperties/">
  <TitusGUID xmlns="">0c1e1c12-00d8-43c9-a768-0647b4e2e0b0</TitusGUID>
  <TitusMetadata xmlns="">eyJucyI6Imh0dHA6XC9cL3d3dy50aXR1cy5jb21cL25zXC9EcmFwZXIgTGFib3JhdG9yeSIsInByb3BzIjpbeyJuIjoiQ2xhc3NpZmljYXRpb24iLCJ2YWxzIjpbeyJ2YWx1ZSI6Ik5vbmUifV19LHsibiI6IkNVSU1hcmtpbmdUeXBlIiwidmFscyI6W119LHsibiI6IkZpbHRlckNhdGVnb3J5IiwidmFscyI6W119LHsibiI6IkNVSUNhdGVnb3J5IiwidmFscyI6W119LHsibiI6IkRpc3NlbWluYXRpb24iLCJ2YWxzIjpbXX0seyJuIjoiRUNJSnVyaXMiLCJ2YWxzIjpbXX0seyJuIjoiUHJvcHJpZXRhcnlUeXBlIiwidmFscyI6W119LHsibiI6IlByb3BTdGF0ZW1lbnQiLCJ2YWxzIjpbXX1dfQ==</TitusMetadata>
</titus>
</file>

<file path=customXml/itemProps1.xml><?xml version="1.0" encoding="utf-8"?>
<ds:datastoreItem xmlns:ds="http://schemas.openxmlformats.org/officeDocument/2006/customXml" ds:itemID="{3056126A-7F63-483E-B3E4-F1BD784FB4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a32957-9a2a-452b-b863-51446bf47133"/>
    <ds:schemaRef ds:uri="a3332dde-d3c6-476b-b524-af209b23c1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106CBB2-3A73-4AE3-A61E-9D79C907CC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2B9699D-AB6A-4C85-9DE8-BF7559EFEDFB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1fa32957-9a2a-452b-b863-51446bf47133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a3332dde-d3c6-476b-b524-af209b23c1dc"/>
    <ds:schemaRef ds:uri="http://purl.org/dc/dcmitype/"/>
    <ds:schemaRef ds:uri="http://purl.org/dc/terms/"/>
  </ds:schemaRefs>
</ds:datastoreItem>
</file>

<file path=customXml/itemProps4.xml><?xml version="1.0" encoding="utf-8"?>
<ds:datastoreItem xmlns:ds="http://schemas.openxmlformats.org/officeDocument/2006/customXml" ds:itemID="{E68F51CD-FEC8-454B-9821-06451BDE83F7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1336</TotalTime>
  <Words>441</Words>
  <Application>Microsoft Office PowerPoint</Application>
  <PresentationFormat>On-screen Show (4:3)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 Arial</vt:lpstr>
      <vt:lpstr>Arial</vt:lpstr>
      <vt:lpstr>Arial Narrow</vt:lpstr>
      <vt:lpstr>Calibri</vt:lpstr>
      <vt:lpstr>Franklin Gothic Medium Cond</vt:lpstr>
      <vt:lpstr>Times New Roman</vt:lpstr>
      <vt:lpstr>USDR&amp;E</vt:lpstr>
      <vt:lpstr>LAND-BASED ELECTROMAGNETIC RAILGUN (LB-EMRG)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Kyle Jenkins</dc:creator>
  <cp:lastModifiedBy>Kenneth Aiello</cp:lastModifiedBy>
  <cp:revision>319</cp:revision>
  <dcterms:created xsi:type="dcterms:W3CDTF">2022-02-09T15:54:20Z</dcterms:created>
  <dcterms:modified xsi:type="dcterms:W3CDTF">2025-11-04T18:39:33Z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0c1e1c12-00d8-43c9-a768-0647b4e2e0b0</vt:lpwstr>
  </property>
  <property fmtid="{D5CDD505-2E9C-101B-9397-08002B2CF9AE}" pid="3" name="TitusClassification">
    <vt:lpwstr>None</vt:lpwstr>
  </property>
  <property fmtid="{D5CDD505-2E9C-101B-9397-08002B2CF9AE}" pid="4" name="ContentTypeId">
    <vt:lpwstr>0x010100991478D91A69474DA7B329374E47CDD3</vt:lpwstr>
  </property>
  <property fmtid="{D5CDD505-2E9C-101B-9397-08002B2CF9AE}" pid="5" name="MediaServiceImageTags">
    <vt:lpwstr/>
  </property>
</Properties>
</file>