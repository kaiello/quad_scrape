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3"/>
  </p:notesMasterIdLst>
  <p:handoutMasterIdLst>
    <p:handoutMasterId r:id="rId4"/>
  </p:handoutMasterIdLst>
  <p:sldIdLst>
    <p:sldId id="277" r:id="rId2"/>
  </p:sldIdLst>
  <p:sldSz cx="9144000" cy="6858000" type="screen4x3"/>
  <p:notesSz cx="7010400" cy="92964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userDrawn="1">
          <p15:clr>
            <a:srgbClr val="A4A3A4"/>
          </p15:clr>
        </p15:guide>
        <p15:guide id="2" pos="2209"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66"/>
    <a:srgbClr val="B3D9FF"/>
    <a:srgbClr val="008000"/>
    <a:srgbClr val="0000FF"/>
    <a:srgbClr val="FF3300"/>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38" autoAdjust="0"/>
    <p:restoredTop sz="78970" autoAdjust="0"/>
  </p:normalViewPr>
  <p:slideViewPr>
    <p:cSldViewPr snapToGrid="0">
      <p:cViewPr varScale="1">
        <p:scale>
          <a:sx n="63" d="100"/>
          <a:sy n="63" d="100"/>
        </p:scale>
        <p:origin x="1356" y="64"/>
      </p:cViewPr>
      <p:guideLst>
        <p:guide orient="horz" pos="2160"/>
        <p:guide pos="2880"/>
      </p:guideLst>
    </p:cSldViewPr>
  </p:slideViewPr>
  <p:notesTextViewPr>
    <p:cViewPr>
      <p:scale>
        <a:sx n="1" d="1"/>
        <a:sy n="1" d="1"/>
      </p:scale>
      <p:origin x="0" y="0"/>
    </p:cViewPr>
  </p:notesTextViewPr>
  <p:notesViewPr>
    <p:cSldViewPr snapToGrid="0">
      <p:cViewPr>
        <p:scale>
          <a:sx n="1" d="2"/>
          <a:sy n="1" d="2"/>
        </p:scale>
        <p:origin x="0" y="0"/>
      </p:cViewPr>
      <p:guideLst>
        <p:guide orient="horz" pos="2928"/>
        <p:guide pos="2209"/>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notesMaster" Target="notesMasters/notesMaster1.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handoutMaster" Target="handoutMasters/handoutMaster1.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neth Aiello" userId="a496ca178903e46c" providerId="LiveId" clId="{C22AC1D1-3D57-4906-A6C6-01018ACB8419}"/>
    <pc:docChg chg="modSld">
      <pc:chgData name="Kenneth Aiello" userId="a496ca178903e46c" providerId="LiveId" clId="{C22AC1D1-3D57-4906-A6C6-01018ACB8419}" dt="2025-11-05T02:48:00.218" v="1" actId="14734"/>
      <pc:docMkLst>
        <pc:docMk/>
      </pc:docMkLst>
      <pc:sldChg chg="modSp mod">
        <pc:chgData name="Kenneth Aiello" userId="a496ca178903e46c" providerId="LiveId" clId="{C22AC1D1-3D57-4906-A6C6-01018ACB8419}" dt="2025-11-05T02:48:00.218" v="1" actId="14734"/>
        <pc:sldMkLst>
          <pc:docMk/>
          <pc:sldMk cId="3393723984" sldId="277"/>
        </pc:sldMkLst>
        <pc:graphicFrameChg chg="modGraphic">
          <ac:chgData name="Kenneth Aiello" userId="a496ca178903e46c" providerId="LiveId" clId="{C22AC1D1-3D57-4906-A6C6-01018ACB8419}" dt="2025-11-05T02:48:00.218" v="1" actId="14734"/>
          <ac:graphicFrameMkLst>
            <pc:docMk/>
            <pc:sldMk cId="3393723984" sldId="277"/>
            <ac:graphicFrameMk id="5" creationId="{23EAADF5-6EFB-7977-135A-3FE5BC6F8C42}"/>
          </ac:graphicFrameMkLst>
        </pc:graphicFrame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0898" name="Rectangle 1026"/>
          <p:cNvSpPr>
            <a:spLocks noGrp="1" noChangeArrowheads="1"/>
          </p:cNvSpPr>
          <p:nvPr>
            <p:ph type="hdr" sz="quarter"/>
          </p:nvPr>
        </p:nvSpPr>
        <p:spPr bwMode="auto">
          <a:xfrm>
            <a:off x="1" y="0"/>
            <a:ext cx="3038161" cy="467382"/>
          </a:xfrm>
          <a:prstGeom prst="rect">
            <a:avLst/>
          </a:prstGeom>
          <a:noFill/>
          <a:ln w="9525">
            <a:noFill/>
            <a:miter lim="800000"/>
            <a:headEnd/>
            <a:tailEnd/>
          </a:ln>
          <a:effectLst/>
        </p:spPr>
        <p:txBody>
          <a:bodyPr vert="horz" wrap="square" lIns="90843" tIns="45421" rIns="90843" bIns="45421" numCol="1" anchor="t" anchorCtr="0" compatLnSpc="1">
            <a:prstTxWarp prst="textNoShape">
              <a:avLst/>
            </a:prstTxWarp>
          </a:bodyPr>
          <a:lstStyle>
            <a:lvl1pPr defTabSz="907847">
              <a:defRPr sz="1200"/>
            </a:lvl1pPr>
          </a:lstStyle>
          <a:p>
            <a:endParaRPr lang="en-US"/>
          </a:p>
        </p:txBody>
      </p:sp>
      <p:sp>
        <p:nvSpPr>
          <p:cNvPr id="80899" name="Rectangle 1027"/>
          <p:cNvSpPr>
            <a:spLocks noGrp="1" noChangeArrowheads="1"/>
          </p:cNvSpPr>
          <p:nvPr>
            <p:ph type="dt" sz="quarter" idx="1"/>
          </p:nvPr>
        </p:nvSpPr>
        <p:spPr bwMode="auto">
          <a:xfrm>
            <a:off x="3972241" y="0"/>
            <a:ext cx="3038160" cy="467382"/>
          </a:xfrm>
          <a:prstGeom prst="rect">
            <a:avLst/>
          </a:prstGeom>
          <a:noFill/>
          <a:ln w="9525">
            <a:noFill/>
            <a:miter lim="800000"/>
            <a:headEnd/>
            <a:tailEnd/>
          </a:ln>
          <a:effectLst/>
        </p:spPr>
        <p:txBody>
          <a:bodyPr vert="horz" wrap="square" lIns="90843" tIns="45421" rIns="90843" bIns="45421" numCol="1" anchor="t" anchorCtr="0" compatLnSpc="1">
            <a:prstTxWarp prst="textNoShape">
              <a:avLst/>
            </a:prstTxWarp>
          </a:bodyPr>
          <a:lstStyle>
            <a:lvl1pPr algn="r" defTabSz="907847">
              <a:defRPr sz="1200"/>
            </a:lvl1pPr>
          </a:lstStyle>
          <a:p>
            <a:endParaRPr lang="en-US"/>
          </a:p>
        </p:txBody>
      </p:sp>
      <p:sp>
        <p:nvSpPr>
          <p:cNvPr id="80900" name="Rectangle 1028"/>
          <p:cNvSpPr>
            <a:spLocks noGrp="1" noChangeArrowheads="1"/>
          </p:cNvSpPr>
          <p:nvPr>
            <p:ph type="ftr" sz="quarter" idx="2"/>
          </p:nvPr>
        </p:nvSpPr>
        <p:spPr bwMode="auto">
          <a:xfrm>
            <a:off x="1" y="8857832"/>
            <a:ext cx="3038161" cy="465779"/>
          </a:xfrm>
          <a:prstGeom prst="rect">
            <a:avLst/>
          </a:prstGeom>
          <a:noFill/>
          <a:ln w="9525">
            <a:noFill/>
            <a:miter lim="800000"/>
            <a:headEnd/>
            <a:tailEnd/>
          </a:ln>
          <a:effectLst/>
        </p:spPr>
        <p:txBody>
          <a:bodyPr vert="horz" wrap="square" lIns="90843" tIns="45421" rIns="90843" bIns="45421" numCol="1" anchor="b" anchorCtr="0" compatLnSpc="1">
            <a:prstTxWarp prst="textNoShape">
              <a:avLst/>
            </a:prstTxWarp>
          </a:bodyPr>
          <a:lstStyle>
            <a:lvl1pPr defTabSz="907847">
              <a:defRPr sz="1200"/>
            </a:lvl1pPr>
          </a:lstStyle>
          <a:p>
            <a:endParaRPr lang="en-US"/>
          </a:p>
        </p:txBody>
      </p:sp>
      <p:sp>
        <p:nvSpPr>
          <p:cNvPr id="80901" name="Rectangle 1029"/>
          <p:cNvSpPr>
            <a:spLocks noGrp="1" noChangeArrowheads="1"/>
          </p:cNvSpPr>
          <p:nvPr>
            <p:ph type="sldNum" sz="quarter" idx="3"/>
          </p:nvPr>
        </p:nvSpPr>
        <p:spPr bwMode="auto">
          <a:xfrm>
            <a:off x="3972241" y="8857832"/>
            <a:ext cx="3038160" cy="465779"/>
          </a:xfrm>
          <a:prstGeom prst="rect">
            <a:avLst/>
          </a:prstGeom>
          <a:noFill/>
          <a:ln w="9525">
            <a:noFill/>
            <a:miter lim="800000"/>
            <a:headEnd/>
            <a:tailEnd/>
          </a:ln>
          <a:effectLst/>
        </p:spPr>
        <p:txBody>
          <a:bodyPr vert="horz" wrap="square" lIns="90843" tIns="45421" rIns="90843" bIns="45421" numCol="1" anchor="b" anchorCtr="0" compatLnSpc="1">
            <a:prstTxWarp prst="textNoShape">
              <a:avLst/>
            </a:prstTxWarp>
          </a:bodyPr>
          <a:lstStyle>
            <a:lvl1pPr algn="r" defTabSz="907847">
              <a:defRPr sz="1200"/>
            </a:lvl1pPr>
          </a:lstStyle>
          <a:p>
            <a:fld id="{E9DAD079-980E-498C-9E21-F28149361F14}" type="slidenum">
              <a:rPr lang="en-US"/>
              <a:pPr/>
              <a:t>‹#›</a:t>
            </a:fld>
            <a:endParaRPr lang="en-US"/>
          </a:p>
        </p:txBody>
      </p:sp>
    </p:spTree>
    <p:extLst>
      <p:ext uri="{BB962C8B-B14F-4D97-AF65-F5344CB8AC3E}">
        <p14:creationId xmlns:p14="http://schemas.microsoft.com/office/powerpoint/2010/main" val="263923298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1" y="2"/>
            <a:ext cx="3038161" cy="465779"/>
          </a:xfrm>
          <a:prstGeom prst="rect">
            <a:avLst/>
          </a:prstGeom>
          <a:noFill/>
          <a:ln w="9525">
            <a:noFill/>
            <a:miter lim="800000"/>
            <a:headEnd/>
            <a:tailEnd/>
          </a:ln>
          <a:effectLst/>
        </p:spPr>
        <p:txBody>
          <a:bodyPr vert="horz" wrap="square" lIns="90843" tIns="45421" rIns="90843" bIns="45421" numCol="1" anchor="t" anchorCtr="0" compatLnSpc="1">
            <a:prstTxWarp prst="textNoShape">
              <a:avLst/>
            </a:prstTxWarp>
          </a:bodyPr>
          <a:lstStyle>
            <a:lvl1pPr defTabSz="907847">
              <a:defRPr sz="1200"/>
            </a:lvl1pPr>
          </a:lstStyle>
          <a:p>
            <a:endParaRPr lang="en-US"/>
          </a:p>
        </p:txBody>
      </p:sp>
      <p:sp>
        <p:nvSpPr>
          <p:cNvPr id="5123" name="Rectangle 3"/>
          <p:cNvSpPr>
            <a:spLocks noGrp="1" noChangeArrowheads="1"/>
          </p:cNvSpPr>
          <p:nvPr>
            <p:ph type="dt" idx="1"/>
          </p:nvPr>
        </p:nvSpPr>
        <p:spPr bwMode="auto">
          <a:xfrm>
            <a:off x="3972241" y="2"/>
            <a:ext cx="3038160" cy="465779"/>
          </a:xfrm>
          <a:prstGeom prst="rect">
            <a:avLst/>
          </a:prstGeom>
          <a:noFill/>
          <a:ln w="9525">
            <a:noFill/>
            <a:miter lim="800000"/>
            <a:headEnd/>
            <a:tailEnd/>
          </a:ln>
          <a:effectLst/>
        </p:spPr>
        <p:txBody>
          <a:bodyPr vert="horz" wrap="square" lIns="90843" tIns="45421" rIns="90843" bIns="45421" numCol="1" anchor="t" anchorCtr="0" compatLnSpc="1">
            <a:prstTxWarp prst="textNoShape">
              <a:avLst/>
            </a:prstTxWarp>
          </a:bodyPr>
          <a:lstStyle>
            <a:lvl1pPr algn="r" defTabSz="907847">
              <a:defRPr sz="1200"/>
            </a:lvl1pPr>
          </a:lstStyle>
          <a:p>
            <a:endParaRPr lang="en-US"/>
          </a:p>
        </p:txBody>
      </p:sp>
      <p:sp>
        <p:nvSpPr>
          <p:cNvPr id="5124" name="Rectangle 4"/>
          <p:cNvSpPr>
            <a:spLocks noGrp="1" noRot="1" noChangeAspect="1" noChangeArrowheads="1" noTextEdit="1"/>
          </p:cNvSpPr>
          <p:nvPr>
            <p:ph type="sldImg" idx="2"/>
          </p:nvPr>
        </p:nvSpPr>
        <p:spPr bwMode="auto">
          <a:xfrm>
            <a:off x="1184275" y="700088"/>
            <a:ext cx="4643438" cy="3481387"/>
          </a:xfrm>
          <a:prstGeom prst="rect">
            <a:avLst/>
          </a:prstGeom>
          <a:noFill/>
          <a:ln w="9525">
            <a:solidFill>
              <a:srgbClr val="000000"/>
            </a:solidFill>
            <a:miter lim="800000"/>
            <a:headEnd/>
            <a:tailEnd/>
          </a:ln>
          <a:effectLst/>
        </p:spPr>
      </p:sp>
      <p:sp>
        <p:nvSpPr>
          <p:cNvPr id="5125" name="Rectangle 5"/>
          <p:cNvSpPr>
            <a:spLocks noGrp="1" noChangeArrowheads="1"/>
          </p:cNvSpPr>
          <p:nvPr>
            <p:ph type="body" sz="quarter" idx="3"/>
          </p:nvPr>
        </p:nvSpPr>
        <p:spPr bwMode="auto">
          <a:xfrm>
            <a:off x="934078" y="4417712"/>
            <a:ext cx="5142244" cy="4179219"/>
          </a:xfrm>
          <a:prstGeom prst="rect">
            <a:avLst/>
          </a:prstGeom>
          <a:noFill/>
          <a:ln w="9525">
            <a:noFill/>
            <a:miter lim="800000"/>
            <a:headEnd/>
            <a:tailEnd/>
          </a:ln>
          <a:effectLst/>
        </p:spPr>
        <p:txBody>
          <a:bodyPr vert="horz" wrap="square" lIns="90843" tIns="45421" rIns="90843" bIns="45421"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126" name="Rectangle 6"/>
          <p:cNvSpPr>
            <a:spLocks noGrp="1" noChangeArrowheads="1"/>
          </p:cNvSpPr>
          <p:nvPr>
            <p:ph type="ftr" sz="quarter" idx="4"/>
          </p:nvPr>
        </p:nvSpPr>
        <p:spPr bwMode="auto">
          <a:xfrm>
            <a:off x="1" y="8830622"/>
            <a:ext cx="3038161" cy="465778"/>
          </a:xfrm>
          <a:prstGeom prst="rect">
            <a:avLst/>
          </a:prstGeom>
          <a:noFill/>
          <a:ln w="9525">
            <a:noFill/>
            <a:miter lim="800000"/>
            <a:headEnd/>
            <a:tailEnd/>
          </a:ln>
          <a:effectLst/>
        </p:spPr>
        <p:txBody>
          <a:bodyPr vert="horz" wrap="square" lIns="90843" tIns="45421" rIns="90843" bIns="45421" numCol="1" anchor="b" anchorCtr="0" compatLnSpc="1">
            <a:prstTxWarp prst="textNoShape">
              <a:avLst/>
            </a:prstTxWarp>
          </a:bodyPr>
          <a:lstStyle>
            <a:lvl1pPr defTabSz="907847">
              <a:defRPr sz="1200"/>
            </a:lvl1pPr>
          </a:lstStyle>
          <a:p>
            <a:endParaRPr lang="en-US"/>
          </a:p>
        </p:txBody>
      </p:sp>
      <p:sp>
        <p:nvSpPr>
          <p:cNvPr id="5127" name="Rectangle 7"/>
          <p:cNvSpPr>
            <a:spLocks noGrp="1" noChangeArrowheads="1"/>
          </p:cNvSpPr>
          <p:nvPr>
            <p:ph type="sldNum" sz="quarter" idx="5"/>
          </p:nvPr>
        </p:nvSpPr>
        <p:spPr bwMode="auto">
          <a:xfrm>
            <a:off x="3972241" y="8830622"/>
            <a:ext cx="3038160" cy="465778"/>
          </a:xfrm>
          <a:prstGeom prst="rect">
            <a:avLst/>
          </a:prstGeom>
          <a:noFill/>
          <a:ln w="9525">
            <a:noFill/>
            <a:miter lim="800000"/>
            <a:headEnd/>
            <a:tailEnd/>
          </a:ln>
          <a:effectLst/>
        </p:spPr>
        <p:txBody>
          <a:bodyPr vert="horz" wrap="square" lIns="90843" tIns="45421" rIns="90843" bIns="45421" numCol="1" anchor="b" anchorCtr="0" compatLnSpc="1">
            <a:prstTxWarp prst="textNoShape">
              <a:avLst/>
            </a:prstTxWarp>
          </a:bodyPr>
          <a:lstStyle>
            <a:lvl1pPr algn="r" defTabSz="907847">
              <a:defRPr sz="1200"/>
            </a:lvl1pPr>
          </a:lstStyle>
          <a:p>
            <a:fld id="{418AE14B-429A-461B-BB81-6C84AE121F01}" type="slidenum">
              <a:rPr lang="en-US"/>
              <a:pPr/>
              <a:t>‹#›</a:t>
            </a:fld>
            <a:endParaRPr lang="en-US"/>
          </a:p>
        </p:txBody>
      </p:sp>
    </p:spTree>
    <p:extLst>
      <p:ext uri="{BB962C8B-B14F-4D97-AF65-F5344CB8AC3E}">
        <p14:creationId xmlns:p14="http://schemas.microsoft.com/office/powerpoint/2010/main" val="121531740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B7E29C-A6A3-22AD-4391-DC984383F0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DB148F-E5FF-61FF-A6C2-D97666F2BF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3C6829-CD54-DEBC-0237-43FF7F2DA292}"/>
              </a:ext>
            </a:extLst>
          </p:cNvPr>
          <p:cNvSpPr>
            <a:spLocks noGrp="1"/>
          </p:cNvSpPr>
          <p:nvPr>
            <p:ph type="body" idx="1"/>
          </p:nvPr>
        </p:nvSpPr>
        <p:spPr/>
        <p:txBody>
          <a:bodyPr/>
          <a:lstStyle/>
          <a:p>
            <a:pPr>
              <a:buNone/>
            </a:pPr>
            <a:r>
              <a:rPr lang="en-US" b="1" dirty="0"/>
              <a:t>Quad Script:</a:t>
            </a:r>
          </a:p>
          <a:p>
            <a:pPr>
              <a:buNone/>
            </a:pPr>
            <a:r>
              <a:rPr lang="en-US" dirty="0"/>
              <a:t>Ladies and gentlemen, our forces need potable water within 72 hours to survive. Right now, that water is expensive to move, inefficient to sustain, and highly vulnerable in contested environments. Convoys and resupply missions put people at risk, and legacy ROWPU systems are predictable, maintenance-heavy, and require constant filter changes.</a:t>
            </a:r>
          </a:p>
          <a:p>
            <a:pPr>
              <a:buNone/>
            </a:pPr>
            <a:endParaRPr lang="en-US" dirty="0"/>
          </a:p>
          <a:p>
            <a:pPr>
              <a:buNone/>
            </a:pPr>
            <a:r>
              <a:rPr lang="en-US" dirty="0"/>
              <a:t>Genesis Systems’ WaterCube technology changes that equation. Built through partnerships with AFRL and the Army Research Lab, this system pulls clean, potable water directly from the atmosphere. It eliminates the need for water convoys, reduces logistics and footprint, and gives commanders true operational flexibility.</a:t>
            </a:r>
          </a:p>
          <a:p>
            <a:pPr>
              <a:buNone/>
            </a:pPr>
            <a:endParaRPr lang="en-US" dirty="0"/>
          </a:p>
          <a:p>
            <a:pPr>
              <a:buNone/>
            </a:pPr>
            <a:r>
              <a:rPr lang="en-US" dirty="0"/>
              <a:t>The capability is proven. We’re delivering one-thousand-gallon-per-day WC-1000M systems, along with smaller ten-gallon-per-day WC-10Ms for distributed operations. Every system is EMP and cyber-hardened, with sustainment and bench stock support built in.</a:t>
            </a:r>
          </a:p>
          <a:p>
            <a:pPr>
              <a:buNone/>
            </a:pPr>
            <a:endParaRPr lang="en-US" dirty="0"/>
          </a:p>
          <a:p>
            <a:pPr>
              <a:buNone/>
            </a:pPr>
            <a:r>
              <a:rPr lang="en-US" dirty="0"/>
              <a:t>We have a defined path forward: APFIT funding in FY26 to ramp production, initial delivery of 39 systems that same year, and over 581 units fielded by FY29. INDOPACOM will sustain using programmed funding.</a:t>
            </a:r>
          </a:p>
          <a:p>
            <a:pPr>
              <a:buNone/>
            </a:pPr>
            <a:r>
              <a:rPr lang="en-US" dirty="0"/>
              <a:t>Bottom line: WaterCube gives us unlimited potable water at the point of need. This is about enhancing combat power, protecting our Airmen, and ensuring we can operate and survive wherever the mission takes us.”*</a:t>
            </a:r>
          </a:p>
        </p:txBody>
      </p:sp>
      <p:sp>
        <p:nvSpPr>
          <p:cNvPr id="4" name="Slide Number Placeholder 3">
            <a:extLst>
              <a:ext uri="{FF2B5EF4-FFF2-40B4-BE49-F238E27FC236}">
                <a16:creationId xmlns:a16="http://schemas.microsoft.com/office/drawing/2014/main" id="{B7158005-A753-15D0-2BE8-02A0112915AE}"/>
              </a:ext>
            </a:extLst>
          </p:cNvPr>
          <p:cNvSpPr>
            <a:spLocks noGrp="1"/>
          </p:cNvSpPr>
          <p:nvPr>
            <p:ph type="sldNum" sz="quarter" idx="10"/>
          </p:nvPr>
        </p:nvSpPr>
        <p:spPr/>
        <p:txBody>
          <a:bodyPr/>
          <a:lstStyle/>
          <a:p>
            <a:fld id="{418AE14B-429A-461B-BB81-6C84AE121F01}" type="slidenum">
              <a:rPr lang="en-US" smtClean="0"/>
              <a:pPr/>
              <a:t>1</a:t>
            </a:fld>
            <a:endParaRPr lang="en-US"/>
          </a:p>
        </p:txBody>
      </p:sp>
    </p:spTree>
    <p:extLst>
      <p:ext uri="{BB962C8B-B14F-4D97-AF65-F5344CB8AC3E}">
        <p14:creationId xmlns:p14="http://schemas.microsoft.com/office/powerpoint/2010/main" val="21708569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1_Content">
    <p:spTree>
      <p:nvGrpSpPr>
        <p:cNvPr id="1" name=""/>
        <p:cNvGrpSpPr/>
        <p:nvPr/>
      </p:nvGrpSpPr>
      <p:grpSpPr>
        <a:xfrm>
          <a:off x="0" y="0"/>
          <a:ext cx="0" cy="0"/>
          <a:chOff x="0" y="0"/>
          <a:chExt cx="0" cy="0"/>
        </a:xfrm>
      </p:grpSpPr>
      <p:sp>
        <p:nvSpPr>
          <p:cNvPr id="3" name="Title Placeholder 1"/>
          <p:cNvSpPr>
            <a:spLocks noGrp="1"/>
          </p:cNvSpPr>
          <p:nvPr>
            <p:ph type="title" hasCustomPrompt="1"/>
          </p:nvPr>
        </p:nvSpPr>
        <p:spPr>
          <a:xfrm>
            <a:off x="838200" y="304800"/>
            <a:ext cx="7467600" cy="457200"/>
          </a:xfrm>
          <a:prstGeom prst="rect">
            <a:avLst/>
          </a:prstGeom>
        </p:spPr>
        <p:txBody>
          <a:bodyPr vert="horz" lIns="91440" tIns="45720" rIns="91440" bIns="45720" rtlCol="0" anchor="ctr">
            <a:normAutofit/>
          </a:bodyPr>
          <a:lstStyle>
            <a:lvl1pPr>
              <a:defRPr sz="2400">
                <a:latin typeface="+mj-lt"/>
                <a:cs typeface="Arial" panose="020B0604020202020204" pitchFamily="34" charset="0"/>
              </a:defRPr>
            </a:lvl1pPr>
          </a:lstStyle>
          <a:p>
            <a:r>
              <a:rPr lang="en-US" sz="3200" i="1">
                <a:latin typeface="Franklin Gothic Medium" pitchFamily="34" charset="0"/>
              </a:rPr>
              <a:t>Project Title</a:t>
            </a:r>
            <a:endParaRPr lang="en-US">
              <a:latin typeface="Arial" charset="0"/>
            </a:endParaRPr>
          </a:p>
        </p:txBody>
      </p:sp>
      <p:sp>
        <p:nvSpPr>
          <p:cNvPr id="16" name="Table Placeholder 15"/>
          <p:cNvSpPr>
            <a:spLocks noGrp="1"/>
          </p:cNvSpPr>
          <p:nvPr>
            <p:ph type="tbl" sz="quarter" idx="13"/>
          </p:nvPr>
        </p:nvSpPr>
        <p:spPr>
          <a:xfrm>
            <a:off x="4572000" y="3807542"/>
            <a:ext cx="4572000" cy="990600"/>
          </a:xfrm>
          <a:noFill/>
          <a:ln>
            <a:noFill/>
          </a:ln>
        </p:spPr>
        <p:txBody>
          <a:bodyPr/>
          <a:lstStyle>
            <a:lvl1pPr marL="0" indent="0">
              <a:buNone/>
              <a:defRPr>
                <a:latin typeface="Arial" panose="020B0604020202020204" pitchFamily="34" charset="0"/>
                <a:cs typeface="Arial" panose="020B0604020202020204" pitchFamily="34" charset="0"/>
              </a:defRPr>
            </a:lvl1pPr>
          </a:lstStyle>
          <a:p>
            <a:endParaRPr lang="en-US"/>
          </a:p>
        </p:txBody>
      </p:sp>
      <p:sp>
        <p:nvSpPr>
          <p:cNvPr id="17" name="Text Placeholder 13"/>
          <p:cNvSpPr>
            <a:spLocks noGrp="1"/>
          </p:cNvSpPr>
          <p:nvPr>
            <p:ph type="body" sz="quarter" idx="14"/>
          </p:nvPr>
        </p:nvSpPr>
        <p:spPr>
          <a:xfrm>
            <a:off x="0" y="3810000"/>
            <a:ext cx="4572000" cy="2819400"/>
          </a:xfrm>
        </p:spPr>
        <p:txBody>
          <a:bodyPr/>
          <a:lstStyle>
            <a:lvl1pPr marL="0" indent="0">
              <a:buNone/>
              <a:defRPr sz="1200" b="1" i="0" u="sng">
                <a:latin typeface="Arial" panose="020B0604020202020204" pitchFamily="34" charset="0"/>
                <a:cs typeface="Arial" panose="020B0604020202020204" pitchFamily="34" charset="0"/>
              </a:defRPr>
            </a:lvl1pPr>
            <a:lvl2pPr marL="171450" indent="-115888">
              <a:buFont typeface="Arial" panose="020B0604020202020204" pitchFamily="34" charset="0"/>
              <a:buChar char="•"/>
              <a:defRPr sz="1100">
                <a:latin typeface="Arial" panose="020B0604020202020204" pitchFamily="34" charset="0"/>
                <a:cs typeface="Arial" panose="020B0604020202020204" pitchFamily="34" charset="0"/>
              </a:defRPr>
            </a:lvl2pPr>
            <a:lvl3pPr marL="347663" indent="-119063">
              <a:buFont typeface="Courier New" panose="02070309020205020404" pitchFamily="49" charset="0"/>
              <a:buChar char="o"/>
              <a:defRPr sz="900">
                <a:latin typeface="Arial" panose="020B0604020202020204" pitchFamily="34" charset="0"/>
                <a:cs typeface="Arial" panose="020B0604020202020204" pitchFamily="34" charset="0"/>
              </a:defRPr>
            </a:lvl3pPr>
          </a:lstStyle>
          <a:p>
            <a:pPr lvl="0"/>
            <a:r>
              <a:rPr lang="en-US"/>
              <a:t>Click to edit Master text styles</a:t>
            </a:r>
          </a:p>
          <a:p>
            <a:pPr lvl="1"/>
            <a:r>
              <a:rPr lang="en-US"/>
              <a:t>Second level</a:t>
            </a:r>
          </a:p>
          <a:p>
            <a:pPr lvl="2"/>
            <a:r>
              <a:rPr lang="en-US"/>
              <a:t>Third level</a:t>
            </a:r>
          </a:p>
        </p:txBody>
      </p:sp>
      <p:sp>
        <p:nvSpPr>
          <p:cNvPr id="18" name="Text Placeholder 13"/>
          <p:cNvSpPr>
            <a:spLocks noGrp="1"/>
          </p:cNvSpPr>
          <p:nvPr>
            <p:ph type="body" sz="quarter" idx="15"/>
          </p:nvPr>
        </p:nvSpPr>
        <p:spPr>
          <a:xfrm>
            <a:off x="4572000" y="4800600"/>
            <a:ext cx="4572000" cy="1676400"/>
          </a:xfrm>
        </p:spPr>
        <p:txBody>
          <a:bodyPr/>
          <a:lstStyle>
            <a:lvl1pPr marL="0" indent="0">
              <a:buNone/>
              <a:defRPr sz="1200" b="1" i="0" u="sng">
                <a:latin typeface="Arial" panose="020B0604020202020204" pitchFamily="34" charset="0"/>
                <a:cs typeface="Arial" panose="020B0604020202020204" pitchFamily="34" charset="0"/>
              </a:defRPr>
            </a:lvl1pPr>
            <a:lvl2pPr marL="171450" indent="-115888">
              <a:buFont typeface="Arial" panose="020B0604020202020204" pitchFamily="34" charset="0"/>
              <a:buChar char="•"/>
              <a:defRPr sz="1100">
                <a:latin typeface="Arial" panose="020B0604020202020204" pitchFamily="34" charset="0"/>
                <a:cs typeface="Arial" panose="020B0604020202020204" pitchFamily="34" charset="0"/>
              </a:defRPr>
            </a:lvl2pPr>
            <a:lvl3pPr marL="347663" indent="-119063">
              <a:buFont typeface="Courier New" panose="02070309020205020404" pitchFamily="49" charset="0"/>
              <a:buChar char="o"/>
              <a:defRPr sz="900">
                <a:latin typeface="Arial" panose="020B0604020202020204" pitchFamily="34" charset="0"/>
                <a:cs typeface="Arial" panose="020B0604020202020204" pitchFamily="34" charset="0"/>
              </a:defRPr>
            </a:lvl3pPr>
          </a:lstStyle>
          <a:p>
            <a:pPr lvl="0"/>
            <a:r>
              <a:rPr lang="en-US"/>
              <a:t>Click to edit Master text styles</a:t>
            </a:r>
          </a:p>
          <a:p>
            <a:pPr lvl="1"/>
            <a:r>
              <a:rPr lang="en-US"/>
              <a:t>Second level</a:t>
            </a:r>
          </a:p>
          <a:p>
            <a:pPr lvl="2"/>
            <a:r>
              <a:rPr lang="en-US"/>
              <a:t>Third level</a:t>
            </a:r>
          </a:p>
        </p:txBody>
      </p:sp>
      <p:sp>
        <p:nvSpPr>
          <p:cNvPr id="7" name="Text Placeholder 13"/>
          <p:cNvSpPr>
            <a:spLocks noGrp="1"/>
          </p:cNvSpPr>
          <p:nvPr>
            <p:ph type="body" sz="quarter" idx="16"/>
          </p:nvPr>
        </p:nvSpPr>
        <p:spPr>
          <a:xfrm>
            <a:off x="4572000" y="838200"/>
            <a:ext cx="4572000" cy="2966884"/>
          </a:xfrm>
        </p:spPr>
        <p:txBody>
          <a:bodyPr/>
          <a:lstStyle>
            <a:lvl1pPr marL="0" indent="0">
              <a:buNone/>
              <a:defRPr sz="1200" b="1" i="0" u="sng">
                <a:latin typeface="Arial" panose="020B0604020202020204" pitchFamily="34" charset="0"/>
                <a:cs typeface="Arial" panose="020B0604020202020204" pitchFamily="34" charset="0"/>
              </a:defRPr>
            </a:lvl1pPr>
            <a:lvl2pPr marL="171450" indent="-112713">
              <a:buFont typeface="Arial" panose="020B0604020202020204" pitchFamily="34" charset="0"/>
              <a:buChar char="•"/>
              <a:tabLst/>
              <a:defRPr sz="1200">
                <a:latin typeface="Arial" panose="020B0604020202020204" pitchFamily="34" charset="0"/>
                <a:cs typeface="Arial" panose="020B0604020202020204" pitchFamily="34" charset="0"/>
              </a:defRPr>
            </a:lvl2pPr>
            <a:lvl3pPr marL="285750" indent="-115888">
              <a:buFont typeface="Courier New" panose="02070309020205020404" pitchFamily="49" charset="0"/>
              <a:buChar char="o"/>
              <a:defRPr sz="900">
                <a:latin typeface="Arial" panose="020B0604020202020204" pitchFamily="34" charset="0"/>
                <a:cs typeface="Arial" panose="020B0604020202020204" pitchFamily="34" charset="0"/>
              </a:defRPr>
            </a:lvl3pPr>
          </a:lstStyle>
          <a:p>
            <a:pPr lvl="0"/>
            <a:r>
              <a:rPr lang="en-US"/>
              <a:t>Click to edit Master text styles</a:t>
            </a:r>
          </a:p>
          <a:p>
            <a:pPr lvl="1"/>
            <a:r>
              <a:rPr lang="en-US"/>
              <a:t>Second level</a:t>
            </a:r>
          </a:p>
          <a:p>
            <a:pPr lvl="2"/>
            <a:r>
              <a:rPr lang="en-US"/>
              <a:t>Third level</a:t>
            </a:r>
          </a:p>
        </p:txBody>
      </p:sp>
      <p:sp>
        <p:nvSpPr>
          <p:cNvPr id="10" name="TextBox 9"/>
          <p:cNvSpPr txBox="1"/>
          <p:nvPr userDrawn="1"/>
        </p:nvSpPr>
        <p:spPr>
          <a:xfrm>
            <a:off x="5303520" y="6519446"/>
            <a:ext cx="3840480" cy="338554"/>
          </a:xfrm>
          <a:prstGeom prst="rect">
            <a:avLst/>
          </a:prstGeom>
          <a:noFill/>
        </p:spPr>
        <p:txBody>
          <a:bodyPr wrap="square" rtlCol="0" anchor="ctr">
            <a:spAutoFit/>
          </a:bodyPr>
          <a:lstStyle/>
          <a:p>
            <a:r>
              <a:rPr lang="en-US" sz="800" kern="0">
                <a:solidFill>
                  <a:srgbClr val="000000"/>
                </a:solidFill>
                <a:latin typeface="Arial" charset="0"/>
                <a:cs typeface="Arial" panose="020B0604020202020204" pitchFamily="34" charset="0"/>
              </a:rPr>
              <a:t>PL POC: </a:t>
            </a:r>
            <a:endParaRPr lang="en-US" sz="800">
              <a:latin typeface="Arial" panose="020B0604020202020204" pitchFamily="34" charset="0"/>
              <a:cs typeface="Arial" panose="020B0604020202020204" pitchFamily="34" charset="0"/>
            </a:endParaRPr>
          </a:p>
          <a:p>
            <a:r>
              <a:rPr lang="en-US" sz="800" kern="0">
                <a:solidFill>
                  <a:srgbClr val="000000"/>
                </a:solidFill>
                <a:latin typeface="Arial" charset="0"/>
                <a:cs typeface="Arial" panose="020B0604020202020204" pitchFamily="34" charset="0"/>
              </a:rPr>
              <a:t>R&amp;E POC:</a:t>
            </a:r>
            <a:endParaRPr lang="en-US" sz="80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46875127"/>
      </p:ext>
    </p:extLst>
  </p:cSld>
  <p:clrMapOvr>
    <a:masterClrMapping/>
  </p:clrMapOvr>
  <p:transition>
    <p:cover/>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Line 2"/>
          <p:cNvSpPr>
            <a:spLocks noChangeShapeType="1"/>
          </p:cNvSpPr>
          <p:nvPr userDrawn="1"/>
        </p:nvSpPr>
        <p:spPr bwMode="auto">
          <a:xfrm>
            <a:off x="4572000" y="838200"/>
            <a:ext cx="0" cy="6019800"/>
          </a:xfrm>
          <a:prstGeom prst="line">
            <a:avLst/>
          </a:prstGeom>
          <a:noFill/>
          <a:ln w="19050">
            <a:solidFill>
              <a:schemeClr val="tx1"/>
            </a:solidFill>
            <a:round/>
            <a:headEnd type="none" w="sm" len="sm"/>
            <a:tailEnd type="none" w="sm" len="sm"/>
          </a:ln>
          <a:effectLst/>
        </p:spPr>
        <p:txBody>
          <a:bodyPr wrap="none" anchor="ctr"/>
          <a:lstStyle/>
          <a:p>
            <a:endParaRPr lang="en-US"/>
          </a:p>
        </p:txBody>
      </p:sp>
      <p:sp>
        <p:nvSpPr>
          <p:cNvPr id="5" name="Line 3"/>
          <p:cNvSpPr>
            <a:spLocks noChangeShapeType="1"/>
          </p:cNvSpPr>
          <p:nvPr userDrawn="1"/>
        </p:nvSpPr>
        <p:spPr bwMode="auto">
          <a:xfrm>
            <a:off x="0" y="3810000"/>
            <a:ext cx="9144000" cy="0"/>
          </a:xfrm>
          <a:prstGeom prst="line">
            <a:avLst/>
          </a:prstGeom>
          <a:noFill/>
          <a:ln w="19050">
            <a:solidFill>
              <a:schemeClr val="tx1"/>
            </a:solidFill>
            <a:round/>
            <a:headEnd type="none" w="sm" len="sm"/>
            <a:tailEnd type="none" w="sm" len="sm"/>
          </a:ln>
          <a:effectLst/>
        </p:spPr>
        <p:txBody>
          <a:bodyPr wrap="none" anchor="ctr"/>
          <a:lstStyle/>
          <a:p>
            <a:endParaRPr lang="en-US"/>
          </a:p>
        </p:txBody>
      </p:sp>
      <p:sp>
        <p:nvSpPr>
          <p:cNvPr id="6" name="Line 56"/>
          <p:cNvSpPr>
            <a:spLocks noChangeShapeType="1"/>
          </p:cNvSpPr>
          <p:nvPr userDrawn="1"/>
        </p:nvSpPr>
        <p:spPr bwMode="auto">
          <a:xfrm>
            <a:off x="0" y="838200"/>
            <a:ext cx="9144000" cy="0"/>
          </a:xfrm>
          <a:prstGeom prst="line">
            <a:avLst/>
          </a:prstGeom>
          <a:noFill/>
          <a:ln w="28575">
            <a:solidFill>
              <a:srgbClr val="FF0000"/>
            </a:solidFill>
            <a:round/>
            <a:headEnd/>
            <a:tailEnd/>
          </a:ln>
          <a:effectLst/>
        </p:spPr>
        <p:txBody>
          <a:bodyPr/>
          <a:lstStyle/>
          <a:p>
            <a:endParaRPr lang="en-US"/>
          </a:p>
        </p:txBody>
      </p:sp>
      <p:pic>
        <p:nvPicPr>
          <p:cNvPr id="8" name="Picture 142" descr="DODc"/>
          <p:cNvPicPr>
            <a:picLocks noChangeAspect="1" noChangeArrowheads="1"/>
          </p:cNvPicPr>
          <p:nvPr userDrawn="1"/>
        </p:nvPicPr>
        <p:blipFill>
          <a:blip r:embed="rId3" cstate="print"/>
          <a:srcRect/>
          <a:stretch>
            <a:fillRect/>
          </a:stretch>
        </p:blipFill>
        <p:spPr bwMode="auto">
          <a:xfrm>
            <a:off x="0" y="0"/>
            <a:ext cx="806450" cy="806450"/>
          </a:xfrm>
          <a:prstGeom prst="rect">
            <a:avLst/>
          </a:prstGeom>
          <a:noFill/>
        </p:spPr>
      </p:pic>
      <p:sp>
        <p:nvSpPr>
          <p:cNvPr id="2" name="Title Placeholder 1"/>
          <p:cNvSpPr>
            <a:spLocks noGrp="1"/>
          </p:cNvSpPr>
          <p:nvPr>
            <p:ph type="title"/>
          </p:nvPr>
        </p:nvSpPr>
        <p:spPr>
          <a:xfrm>
            <a:off x="806449" y="381000"/>
            <a:ext cx="7524215" cy="43459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14" name="Picture 13"/>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8229889" y="-82550"/>
            <a:ext cx="996950" cy="996950"/>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Lst>
  <p:transition>
    <p:cover/>
  </p:transition>
  <p:hf sldNum="0" hdr="0" ftr="0" dt="0"/>
  <p:txStyles>
    <p:titleStyle>
      <a:lvl1pPr algn="ctr" rtl="0" eaLnBrk="0" fontAlgn="base" hangingPunct="0">
        <a:spcBef>
          <a:spcPct val="0"/>
        </a:spcBef>
        <a:spcAft>
          <a:spcPct val="0"/>
        </a:spcAft>
        <a:defRPr sz="2400" b="0" i="1">
          <a:solidFill>
            <a:schemeClr val="tx2"/>
          </a:solidFill>
          <a:latin typeface="+mj-lt"/>
          <a:ea typeface="+mj-ea"/>
          <a:cs typeface="Arial" panose="020B0604020202020204" pitchFamily="34" charset="0"/>
        </a:defRPr>
      </a:lvl1pPr>
      <a:lvl2pPr algn="l" rtl="0" eaLnBrk="0" fontAlgn="base" hangingPunct="0">
        <a:spcBef>
          <a:spcPct val="0"/>
        </a:spcBef>
        <a:spcAft>
          <a:spcPct val="0"/>
        </a:spcAft>
        <a:defRPr sz="3600" b="1" i="1">
          <a:solidFill>
            <a:schemeClr val="tx2"/>
          </a:solidFill>
          <a:latin typeface="Century Schoolbook" pitchFamily="18" charset="0"/>
        </a:defRPr>
      </a:lvl2pPr>
      <a:lvl3pPr algn="l" rtl="0" eaLnBrk="0" fontAlgn="base" hangingPunct="0">
        <a:spcBef>
          <a:spcPct val="0"/>
        </a:spcBef>
        <a:spcAft>
          <a:spcPct val="0"/>
        </a:spcAft>
        <a:defRPr sz="3600" b="1" i="1">
          <a:solidFill>
            <a:schemeClr val="tx2"/>
          </a:solidFill>
          <a:latin typeface="Century Schoolbook" pitchFamily="18" charset="0"/>
        </a:defRPr>
      </a:lvl3pPr>
      <a:lvl4pPr algn="l" rtl="0" eaLnBrk="0" fontAlgn="base" hangingPunct="0">
        <a:spcBef>
          <a:spcPct val="0"/>
        </a:spcBef>
        <a:spcAft>
          <a:spcPct val="0"/>
        </a:spcAft>
        <a:defRPr sz="3600" b="1" i="1">
          <a:solidFill>
            <a:schemeClr val="tx2"/>
          </a:solidFill>
          <a:latin typeface="Century Schoolbook" pitchFamily="18" charset="0"/>
        </a:defRPr>
      </a:lvl4pPr>
      <a:lvl5pPr algn="l" rtl="0" eaLnBrk="0" fontAlgn="base" hangingPunct="0">
        <a:spcBef>
          <a:spcPct val="0"/>
        </a:spcBef>
        <a:spcAft>
          <a:spcPct val="0"/>
        </a:spcAft>
        <a:defRPr sz="3600" b="1" i="1">
          <a:solidFill>
            <a:schemeClr val="tx2"/>
          </a:solidFill>
          <a:latin typeface="Century Schoolbook" pitchFamily="18" charset="0"/>
        </a:defRPr>
      </a:lvl5pPr>
      <a:lvl6pPr marL="457200" algn="l" rtl="0" eaLnBrk="0" fontAlgn="base" hangingPunct="0">
        <a:spcBef>
          <a:spcPct val="0"/>
        </a:spcBef>
        <a:spcAft>
          <a:spcPct val="0"/>
        </a:spcAft>
        <a:defRPr sz="3600" b="1" i="1">
          <a:solidFill>
            <a:schemeClr val="tx2"/>
          </a:solidFill>
          <a:latin typeface="Century Schoolbook" pitchFamily="18" charset="0"/>
        </a:defRPr>
      </a:lvl6pPr>
      <a:lvl7pPr marL="914400" algn="l" rtl="0" eaLnBrk="0" fontAlgn="base" hangingPunct="0">
        <a:spcBef>
          <a:spcPct val="0"/>
        </a:spcBef>
        <a:spcAft>
          <a:spcPct val="0"/>
        </a:spcAft>
        <a:defRPr sz="3600" b="1" i="1">
          <a:solidFill>
            <a:schemeClr val="tx2"/>
          </a:solidFill>
          <a:latin typeface="Century Schoolbook" pitchFamily="18" charset="0"/>
        </a:defRPr>
      </a:lvl7pPr>
      <a:lvl8pPr marL="1371600" algn="l" rtl="0" eaLnBrk="0" fontAlgn="base" hangingPunct="0">
        <a:spcBef>
          <a:spcPct val="0"/>
        </a:spcBef>
        <a:spcAft>
          <a:spcPct val="0"/>
        </a:spcAft>
        <a:defRPr sz="3600" b="1" i="1">
          <a:solidFill>
            <a:schemeClr val="tx2"/>
          </a:solidFill>
          <a:latin typeface="Century Schoolbook" pitchFamily="18" charset="0"/>
        </a:defRPr>
      </a:lvl8pPr>
      <a:lvl9pPr marL="1828800" algn="l" rtl="0" eaLnBrk="0" fontAlgn="base" hangingPunct="0">
        <a:spcBef>
          <a:spcPct val="0"/>
        </a:spcBef>
        <a:spcAft>
          <a:spcPct val="0"/>
        </a:spcAft>
        <a:defRPr sz="3600" b="1" i="1">
          <a:solidFill>
            <a:schemeClr val="tx2"/>
          </a:solidFill>
          <a:latin typeface="Century Schoolbook" pitchFamily="18" charset="0"/>
        </a:defRPr>
      </a:lvl9pPr>
    </p:titleStyle>
    <p:bodyStyle>
      <a:lvl1pPr marL="342900" indent="-342900" algn="l" rtl="0" eaLnBrk="0" fontAlgn="base" hangingPunct="0">
        <a:spcBef>
          <a:spcPct val="20000"/>
        </a:spcBef>
        <a:spcAft>
          <a:spcPct val="0"/>
        </a:spcAft>
        <a:buChar char="•"/>
        <a:defRPr sz="2800">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har char="–"/>
        <a:defRPr sz="2400">
          <a:solidFill>
            <a:schemeClr val="tx1"/>
          </a:solidFill>
          <a:latin typeface="Arial" panose="020B0604020202020204" pitchFamily="34" charset="0"/>
          <a:cs typeface="Arial" panose="020B0604020202020204" pitchFamily="34" charset="0"/>
        </a:defRPr>
      </a:lvl2pPr>
      <a:lvl3pPr marL="1143000" indent="-228600" algn="l" rtl="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3pPr>
      <a:lvl4pPr marL="16002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20574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A45C2-7829-C7AE-044C-BFBD41679639}"/>
            </a:ext>
          </a:extLst>
        </p:cNvPr>
        <p:cNvGrpSpPr/>
        <p:nvPr/>
      </p:nvGrpSpPr>
      <p:grpSpPr>
        <a:xfrm>
          <a:off x="0" y="0"/>
          <a:ext cx="0" cy="0"/>
          <a:chOff x="0" y="0"/>
          <a:chExt cx="0" cy="0"/>
        </a:xfrm>
      </p:grpSpPr>
      <p:sp>
        <p:nvSpPr>
          <p:cNvPr id="7" name="Text Placeholder 2">
            <a:extLst>
              <a:ext uri="{FF2B5EF4-FFF2-40B4-BE49-F238E27FC236}">
                <a16:creationId xmlns:a16="http://schemas.microsoft.com/office/drawing/2014/main" id="{7CBB60E8-C03B-F3A4-F6BC-4446BEEE868A}"/>
              </a:ext>
            </a:extLst>
          </p:cNvPr>
          <p:cNvSpPr txBox="1">
            <a:spLocks/>
          </p:cNvSpPr>
          <p:nvPr/>
        </p:nvSpPr>
        <p:spPr>
          <a:xfrm>
            <a:off x="0" y="6555719"/>
            <a:ext cx="4572000" cy="302281"/>
          </a:xfrm>
          <a:prstGeom prst="rect">
            <a:avLst/>
          </a:prstGeom>
        </p:spPr>
        <p:txBody>
          <a:bodyPr vert="horz" lIns="91440" tIns="45720" rIns="91440" bIns="45720" rtlCol="0" anchor="ctr">
            <a:normAutofit/>
          </a:bodyPr>
          <a:lstStyle>
            <a:lvl1pPr marL="0" indent="0" algn="ctr" rtl="0" eaLnBrk="0" fontAlgn="base" hangingPunct="0">
              <a:lnSpc>
                <a:spcPct val="100000"/>
              </a:lnSpc>
              <a:spcBef>
                <a:spcPts val="0"/>
              </a:spcBef>
              <a:spcAft>
                <a:spcPct val="0"/>
              </a:spcAft>
              <a:buNone/>
              <a:defRPr sz="1000" b="1">
                <a:solidFill>
                  <a:schemeClr val="tx1"/>
                </a:solidFill>
                <a:latin typeface="Arial" panose="020B0604020202020204" pitchFamily="34" charset="0"/>
                <a:ea typeface="+mn-ea"/>
                <a:cs typeface="Arial" panose="020B0604020202020204" pitchFamily="34" charset="0"/>
              </a:defRPr>
            </a:lvl1pPr>
            <a:lvl2pPr marL="742950" indent="-285750" algn="l" rtl="0" eaLnBrk="0" fontAlgn="base" hangingPunct="0">
              <a:spcBef>
                <a:spcPct val="20000"/>
              </a:spcBef>
              <a:spcAft>
                <a:spcPct val="0"/>
              </a:spcAft>
              <a:buChar char="–"/>
              <a:defRPr sz="2400">
                <a:solidFill>
                  <a:schemeClr val="tx1"/>
                </a:solidFill>
                <a:latin typeface="Arial" panose="020B0604020202020204" pitchFamily="34" charset="0"/>
                <a:cs typeface="Arial" panose="020B0604020202020204" pitchFamily="34" charset="0"/>
              </a:defRPr>
            </a:lvl2pPr>
            <a:lvl3pPr marL="1143000" indent="-228600" algn="l" rtl="0" eaLnBrk="0" fontAlgn="base" hangingPunct="0">
              <a:spcBef>
                <a:spcPct val="20000"/>
              </a:spcBef>
              <a:spcAft>
                <a:spcPct val="0"/>
              </a:spcAft>
              <a:buChar char="•"/>
              <a:defRPr sz="2000">
                <a:solidFill>
                  <a:schemeClr val="tx1"/>
                </a:solidFill>
                <a:latin typeface="Arial" panose="020B0604020202020204" pitchFamily="34" charset="0"/>
                <a:cs typeface="Arial" panose="020B0604020202020204" pitchFamily="34" charset="0"/>
              </a:defRPr>
            </a:lvl3pPr>
            <a:lvl4pPr marL="16002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4pPr>
            <a:lvl5pPr marL="2057400" indent="-228600" algn="l" rtl="0" eaLnBrk="0" fontAlgn="base" hangingPunct="0">
              <a:spcBef>
                <a:spcPct val="20000"/>
              </a:spcBef>
              <a:spcAft>
                <a:spcPct val="0"/>
              </a:spcAft>
              <a:buChar char="•"/>
              <a:defRPr sz="1800">
                <a:solidFill>
                  <a:schemeClr val="tx1"/>
                </a:solidFill>
                <a:latin typeface="Arial" panose="020B0604020202020204" pitchFamily="34" charset="0"/>
                <a:cs typeface="Arial" panose="020B0604020202020204" pitchFamily="34" charset="0"/>
              </a:defRPr>
            </a:lvl5pPr>
            <a:lvl6pPr marL="2514600" indent="-228600" algn="l" rtl="0" eaLnBrk="0" fontAlgn="base" hangingPunct="0">
              <a:spcBef>
                <a:spcPct val="20000"/>
              </a:spcBef>
              <a:spcAft>
                <a:spcPct val="0"/>
              </a:spcAft>
              <a:buChar char="•"/>
              <a:defRPr sz="2000">
                <a:solidFill>
                  <a:schemeClr val="tx1"/>
                </a:solidFill>
                <a:latin typeface="+mn-lt"/>
              </a:defRPr>
            </a:lvl6pPr>
            <a:lvl7pPr marL="2971800" indent="-228600" algn="l" rtl="0" eaLnBrk="0" fontAlgn="base" hangingPunct="0">
              <a:spcBef>
                <a:spcPct val="20000"/>
              </a:spcBef>
              <a:spcAft>
                <a:spcPct val="0"/>
              </a:spcAft>
              <a:buChar char="•"/>
              <a:defRPr sz="2000">
                <a:solidFill>
                  <a:schemeClr val="tx1"/>
                </a:solidFill>
                <a:latin typeface="+mn-lt"/>
              </a:defRPr>
            </a:lvl7pPr>
            <a:lvl8pPr marL="3429000" indent="-228600" algn="l" rtl="0" eaLnBrk="0" fontAlgn="base" hangingPunct="0">
              <a:spcBef>
                <a:spcPct val="20000"/>
              </a:spcBef>
              <a:spcAft>
                <a:spcPct val="0"/>
              </a:spcAft>
              <a:buChar char="•"/>
              <a:defRPr sz="2000">
                <a:solidFill>
                  <a:schemeClr val="tx1"/>
                </a:solidFill>
                <a:latin typeface="+mn-lt"/>
              </a:defRPr>
            </a:lvl8pPr>
            <a:lvl9pPr marL="3886200" indent="-228600" algn="l" rtl="0" eaLnBrk="0" fontAlgn="base" hangingPunct="0">
              <a:spcBef>
                <a:spcPct val="20000"/>
              </a:spcBef>
              <a:spcAft>
                <a:spcPct val="0"/>
              </a:spcAft>
              <a:buChar char="•"/>
              <a:defRPr sz="2000">
                <a:solidFill>
                  <a:schemeClr val="tx1"/>
                </a:solidFill>
                <a:latin typeface="+mn-lt"/>
              </a:defRPr>
            </a:lvl9pPr>
          </a:lstStyle>
          <a:p>
            <a:r>
              <a:rPr lang="en-US" sz="900" b="0" kern="0" dirty="0">
                <a:latin typeface="Aptos" panose="020B0004020202020204" pitchFamily="34" charset="0"/>
                <a:cs typeface="Arial"/>
              </a:rPr>
              <a:t>CONFIDNETIAL//GRAY//NOT FOR PUBLIC</a:t>
            </a:r>
            <a:endParaRPr lang="en-US" dirty="0">
              <a:latin typeface="Aptos" panose="020B0004020202020204" pitchFamily="34" charset="0"/>
            </a:endParaRPr>
          </a:p>
        </p:txBody>
      </p:sp>
      <p:sp>
        <p:nvSpPr>
          <p:cNvPr id="11" name="Tech_Product">
            <a:extLst>
              <a:ext uri="{FF2B5EF4-FFF2-40B4-BE49-F238E27FC236}">
                <a16:creationId xmlns:a16="http://schemas.microsoft.com/office/drawing/2014/main" id="{175A062B-5606-769E-054F-F0742598E035}"/>
              </a:ext>
            </a:extLst>
          </p:cNvPr>
          <p:cNvSpPr>
            <a:spLocks noGrp="1"/>
          </p:cNvSpPr>
          <p:nvPr>
            <p:ph type="body" sz="quarter" idx="16"/>
          </p:nvPr>
        </p:nvSpPr>
        <p:spPr>
          <a:xfrm>
            <a:off x="4549345" y="841343"/>
            <a:ext cx="4572000" cy="2951612"/>
          </a:xfrm>
        </p:spPr>
        <p:txBody>
          <a:bodyPr vert="horz" lIns="91440" tIns="45720" rIns="91440" bIns="45720" rtlCol="0" anchor="t">
            <a:noAutofit/>
          </a:bodyPr>
          <a:lstStyle/>
          <a:p>
            <a:pPr lvl="1" indent="-112395">
              <a:buNone/>
            </a:pPr>
            <a:endParaRPr lang="en-US" sz="500" b="1" u="sng" dirty="0">
              <a:latin typeface="Arial"/>
              <a:cs typeface="Arial"/>
            </a:endParaRPr>
          </a:p>
          <a:p>
            <a:pPr lvl="1" indent="-112395">
              <a:buNone/>
            </a:pPr>
            <a:r>
              <a:rPr lang="en-US" sz="1000" b="1" u="sng" dirty="0">
                <a:latin typeface="Arial"/>
                <a:cs typeface="Arial"/>
              </a:rPr>
              <a:t>Problem Statement:</a:t>
            </a:r>
            <a:br>
              <a:rPr lang="en-US" sz="1000" dirty="0">
                <a:latin typeface="Arial"/>
                <a:cs typeface="Arial"/>
              </a:rPr>
            </a:br>
            <a:r>
              <a:rPr lang="en-US" sz="1000" dirty="0">
                <a:latin typeface="Arial"/>
                <a:cs typeface="Arial"/>
              </a:rPr>
              <a:t>Warfighters need potable water within 72 hours for survival, but water transport is costly, inefficient, and vulnerable in contested environments. ROWPU systems are predictable, maintenance-heavy, and require frequent filter changes. WaterCube</a:t>
            </a:r>
            <a:r>
              <a:rPr lang="en-US" sz="1000" baseline="30000" dirty="0">
                <a:latin typeface="Arial"/>
                <a:cs typeface="Arial"/>
              </a:rPr>
              <a:t> ®</a:t>
            </a:r>
            <a:r>
              <a:rPr lang="en-US" sz="1000" dirty="0">
                <a:latin typeface="Arial"/>
                <a:cs typeface="Arial"/>
              </a:rPr>
              <a:t> overcomes these challenges, supporting sustained operations in forward areas under ACE, MEU, and MDO concepts where mobility and operational freedom are critical.</a:t>
            </a:r>
          </a:p>
          <a:p>
            <a:pPr lvl="1" indent="-112395">
              <a:buNone/>
            </a:pPr>
            <a:endParaRPr lang="en-US" sz="500" dirty="0">
              <a:latin typeface="Arial"/>
              <a:cs typeface="Arial"/>
            </a:endParaRPr>
          </a:p>
          <a:p>
            <a:pPr lvl="1" indent="-112395">
              <a:buNone/>
            </a:pPr>
            <a:r>
              <a:rPr lang="en-US" sz="1000" b="1" u="sng" dirty="0">
                <a:latin typeface="Arial"/>
                <a:cs typeface="Arial"/>
              </a:rPr>
              <a:t>Project Description:</a:t>
            </a:r>
            <a:br>
              <a:rPr lang="en-US" sz="1000" dirty="0">
                <a:latin typeface="Arial"/>
                <a:cs typeface="Arial"/>
              </a:rPr>
            </a:br>
            <a:r>
              <a:rPr lang="en-US" sz="1000" dirty="0">
                <a:latin typeface="Arial"/>
                <a:cs typeface="Arial"/>
              </a:rPr>
              <a:t> </a:t>
            </a:r>
            <a:r>
              <a:rPr lang="en-US" sz="1000" dirty="0">
                <a:effectLst/>
                <a:latin typeface="Arial"/>
                <a:ea typeface="Times New Roman" panose="02020603050405020304" pitchFamily="18" charset="0"/>
                <a:cs typeface="Arial"/>
              </a:rPr>
              <a:t>Genesis Systems</a:t>
            </a:r>
            <a:r>
              <a:rPr lang="en-US" sz="1000" dirty="0">
                <a:latin typeface="Arial"/>
                <a:ea typeface="Times New Roman" panose="02020603050405020304" pitchFamily="18" charset="0"/>
                <a:cs typeface="Arial"/>
              </a:rPr>
              <a:t>' WaterCube</a:t>
            </a:r>
            <a:r>
              <a:rPr lang="en-US" sz="1000" baseline="30000" dirty="0">
                <a:latin typeface="Arial"/>
                <a:ea typeface="Times New Roman" panose="02020603050405020304" pitchFamily="18" charset="0"/>
                <a:cs typeface="Arial"/>
              </a:rPr>
              <a:t> ®</a:t>
            </a:r>
            <a:r>
              <a:rPr lang="en-US" sz="1000" dirty="0">
                <a:latin typeface="Arial"/>
                <a:ea typeface="Times New Roman" panose="02020603050405020304" pitchFamily="18" charset="0"/>
                <a:cs typeface="Arial"/>
              </a:rPr>
              <a:t> (Renewable Water from Air) technology,</a:t>
            </a:r>
            <a:r>
              <a:rPr lang="en-US" sz="1000" dirty="0">
                <a:effectLst/>
                <a:latin typeface="Arial"/>
                <a:ea typeface="Times New Roman" panose="02020603050405020304" pitchFamily="18" charset="0"/>
                <a:cs typeface="Arial"/>
              </a:rPr>
              <a:t> developed through </a:t>
            </a:r>
            <a:r>
              <a:rPr lang="en-US" sz="1000" dirty="0">
                <a:latin typeface="Arial"/>
                <a:ea typeface="Times New Roman" panose="02020603050405020304" pitchFamily="18" charset="0"/>
                <a:cs typeface="Arial"/>
              </a:rPr>
              <a:t>partnerships with AFRL and Army Research Labs under five </a:t>
            </a:r>
            <a:r>
              <a:rPr lang="en-US" sz="1000" dirty="0">
                <a:effectLst/>
                <a:latin typeface="Arial"/>
                <a:ea typeface="Times New Roman" panose="02020603050405020304" pitchFamily="18" charset="0"/>
                <a:cs typeface="Arial"/>
              </a:rPr>
              <a:t>SBIR contracts</a:t>
            </a:r>
            <a:r>
              <a:rPr lang="en-US" sz="1000" dirty="0">
                <a:latin typeface="Arial"/>
                <a:ea typeface="Times New Roman" panose="02020603050405020304" pitchFamily="18" charset="0"/>
                <a:cs typeface="Arial"/>
              </a:rPr>
              <a:t> over 6 years, is designed for military use.</a:t>
            </a:r>
          </a:p>
          <a:p>
            <a:pPr lvl="1" indent="-112395">
              <a:buNone/>
            </a:pPr>
            <a:endParaRPr lang="en-US" sz="500" dirty="0">
              <a:latin typeface="Arial"/>
              <a:cs typeface="Arial"/>
            </a:endParaRPr>
          </a:p>
          <a:p>
            <a:pPr lvl="1" indent="-112395">
              <a:buNone/>
            </a:pPr>
            <a:r>
              <a:rPr lang="en-US" sz="1000" b="1" u="sng" dirty="0">
                <a:latin typeface="Arial"/>
                <a:cs typeface="Arial"/>
              </a:rPr>
              <a:t>Benefit to Warfighter:</a:t>
            </a:r>
            <a:br>
              <a:rPr lang="en-US" sz="1000" dirty="0">
                <a:latin typeface="Arial"/>
                <a:cs typeface="Arial"/>
              </a:rPr>
            </a:br>
            <a:r>
              <a:rPr lang="en-US" sz="1000" dirty="0">
                <a:latin typeface="Arial"/>
                <a:cs typeface="Arial"/>
              </a:rPr>
              <a:t>Provides clean, reliable water at the point of need, eliminating water resupply, reducing unit footprint, and removing chlorine treatment. WaterCube</a:t>
            </a:r>
            <a:r>
              <a:rPr lang="en-US" sz="1000" baseline="30000" dirty="0">
                <a:latin typeface="Arial"/>
                <a:cs typeface="Arial"/>
              </a:rPr>
              <a:t> ®</a:t>
            </a:r>
            <a:r>
              <a:rPr lang="en-US" sz="1000" dirty="0">
                <a:latin typeface="Arial"/>
                <a:cs typeface="Arial"/>
              </a:rPr>
              <a:t> enhances mobility and operational flexibility, ending reliance on external sustainment.</a:t>
            </a:r>
            <a:endParaRPr lang="en-US" sz="1000" b="1" dirty="0">
              <a:latin typeface="Arial"/>
            </a:endParaRPr>
          </a:p>
        </p:txBody>
      </p:sp>
      <p:sp>
        <p:nvSpPr>
          <p:cNvPr id="13" name="Milestones">
            <a:extLst>
              <a:ext uri="{FF2B5EF4-FFF2-40B4-BE49-F238E27FC236}">
                <a16:creationId xmlns:a16="http://schemas.microsoft.com/office/drawing/2014/main" id="{FC17166A-1924-CA9C-F538-1D9743C57592}"/>
              </a:ext>
            </a:extLst>
          </p:cNvPr>
          <p:cNvSpPr>
            <a:spLocks noGrp="1"/>
          </p:cNvSpPr>
          <p:nvPr>
            <p:ph type="body" sz="quarter" idx="15"/>
          </p:nvPr>
        </p:nvSpPr>
        <p:spPr>
          <a:xfrm>
            <a:off x="4572000" y="4770782"/>
            <a:ext cx="4572000" cy="1752600"/>
          </a:xfrm>
        </p:spPr>
        <p:txBody>
          <a:bodyPr vert="horz" lIns="91440" tIns="45720" rIns="91440" bIns="45720" rtlCol="0" anchor="t">
            <a:normAutofit/>
          </a:bodyPr>
          <a:lstStyle/>
          <a:p>
            <a:endParaRPr lang="en-US" sz="1000" dirty="0"/>
          </a:p>
          <a:p>
            <a:endParaRPr lang="en-US" sz="1000" dirty="0">
              <a:latin typeface="Arial"/>
              <a:cs typeface="Arial"/>
            </a:endParaRPr>
          </a:p>
          <a:p>
            <a:r>
              <a:rPr lang="en-US" sz="1000" dirty="0">
                <a:latin typeface="Aptos" panose="020B0004020202020204" pitchFamily="34" charset="0"/>
                <a:cs typeface="Arial"/>
              </a:rPr>
              <a:t>Schedule</a:t>
            </a:r>
            <a:r>
              <a:rPr lang="en-US" sz="1000" u="none" dirty="0">
                <a:latin typeface="Aptos" panose="020B0004020202020204" pitchFamily="34" charset="0"/>
                <a:cs typeface="Arial"/>
              </a:rPr>
              <a:t>:</a:t>
            </a:r>
            <a:endParaRPr lang="en-US" sz="1000" dirty="0">
              <a:latin typeface="Aptos" panose="020B0004020202020204" pitchFamily="34" charset="0"/>
            </a:endParaRPr>
          </a:p>
          <a:p>
            <a:pPr lvl="1" indent="-117475">
              <a:tabLst>
                <a:tab pos="4348163" algn="r"/>
              </a:tabLst>
            </a:pPr>
            <a:r>
              <a:rPr lang="en-US" sz="1000" dirty="0">
                <a:latin typeface="Aptos" panose="020B0004020202020204" pitchFamily="34" charset="0"/>
                <a:cs typeface="Arial"/>
              </a:rPr>
              <a:t>Additional Facility Standup – Production ramp-up	Q2 FY26</a:t>
            </a:r>
            <a:endParaRPr lang="en-US" sz="1000" dirty="0">
              <a:latin typeface="Aptos" panose="020B0004020202020204" pitchFamily="34" charset="0"/>
            </a:endParaRPr>
          </a:p>
          <a:p>
            <a:pPr lvl="1" indent="-117475">
              <a:tabLst>
                <a:tab pos="4348163" algn="r"/>
              </a:tabLst>
            </a:pPr>
            <a:r>
              <a:rPr lang="en-US" sz="1000" dirty="0">
                <a:latin typeface="Aptos" panose="020B0004020202020204" pitchFamily="34" charset="0"/>
                <a:cs typeface="Arial"/>
              </a:rPr>
              <a:t>Initial delivery of 39 WaterCube</a:t>
            </a:r>
            <a:r>
              <a:rPr lang="en-US" sz="1000" baseline="30000" dirty="0">
                <a:latin typeface="Aptos" panose="020B0004020202020204" pitchFamily="34" charset="0"/>
                <a:cs typeface="Arial"/>
              </a:rPr>
              <a:t> ®</a:t>
            </a:r>
            <a:r>
              <a:rPr lang="en-US" sz="1000" dirty="0">
                <a:latin typeface="Aptos" panose="020B0004020202020204" pitchFamily="34" charset="0"/>
                <a:cs typeface="Arial"/>
              </a:rPr>
              <a:t> systems	Q4 FY26</a:t>
            </a:r>
          </a:p>
          <a:p>
            <a:pPr lvl="1" indent="-117475">
              <a:tabLst>
                <a:tab pos="4348163" algn="r"/>
              </a:tabLst>
            </a:pPr>
            <a:r>
              <a:rPr lang="en-US" sz="1000" dirty="0">
                <a:latin typeface="Aptos" panose="020B0004020202020204" pitchFamily="34" charset="0"/>
                <a:cs typeface="Arial"/>
              </a:rPr>
              <a:t>Achieve full rate production Capability	Q1 FY27</a:t>
            </a:r>
          </a:p>
          <a:p>
            <a:pPr lvl="1" indent="-117475">
              <a:tabLst>
                <a:tab pos="4348163" algn="r"/>
              </a:tabLst>
            </a:pPr>
            <a:r>
              <a:rPr lang="en-US" sz="1000" dirty="0">
                <a:latin typeface="Aptos"/>
                <a:cs typeface="Arial"/>
              </a:rPr>
              <a:t>Mid Point Production – 292 WaterCube</a:t>
            </a:r>
            <a:r>
              <a:rPr lang="en-US" sz="1000" baseline="30000" dirty="0">
                <a:latin typeface="Aptos"/>
                <a:cs typeface="Arial"/>
              </a:rPr>
              <a:t> ®</a:t>
            </a:r>
            <a:r>
              <a:rPr lang="en-US" sz="1000" dirty="0">
                <a:latin typeface="Aptos"/>
                <a:cs typeface="Arial"/>
              </a:rPr>
              <a:t> systems delivered	Q4 FY28</a:t>
            </a:r>
          </a:p>
          <a:p>
            <a:pPr lvl="1" indent="-117475">
              <a:tabLst>
                <a:tab pos="4348163" algn="r"/>
              </a:tabLst>
            </a:pPr>
            <a:r>
              <a:rPr lang="en-US" sz="1000" dirty="0">
                <a:latin typeface="Aptos"/>
                <a:cs typeface="Arial"/>
              </a:rPr>
              <a:t>Remaining of 581  WaterCube</a:t>
            </a:r>
            <a:r>
              <a:rPr lang="en-US" sz="1000" baseline="30000" dirty="0">
                <a:latin typeface="Aptos"/>
                <a:cs typeface="Arial"/>
              </a:rPr>
              <a:t> ®</a:t>
            </a:r>
            <a:r>
              <a:rPr lang="en-US" sz="1000" dirty="0">
                <a:latin typeface="Aptos"/>
                <a:cs typeface="Arial"/>
              </a:rPr>
              <a:t> systems delivered	Q4 FY29</a:t>
            </a:r>
          </a:p>
        </p:txBody>
      </p:sp>
      <p:sp>
        <p:nvSpPr>
          <p:cNvPr id="12" name="Participants_Deliverables">
            <a:extLst>
              <a:ext uri="{FF2B5EF4-FFF2-40B4-BE49-F238E27FC236}">
                <a16:creationId xmlns:a16="http://schemas.microsoft.com/office/drawing/2014/main" id="{F4B5399A-FB89-8960-7E18-219182EAFA60}"/>
              </a:ext>
            </a:extLst>
          </p:cNvPr>
          <p:cNvSpPr>
            <a:spLocks noGrp="1"/>
          </p:cNvSpPr>
          <p:nvPr>
            <p:ph type="body" sz="quarter" idx="14"/>
          </p:nvPr>
        </p:nvSpPr>
        <p:spPr>
          <a:xfrm>
            <a:off x="0" y="3835400"/>
            <a:ext cx="4572000" cy="2704121"/>
          </a:xfrm>
        </p:spPr>
        <p:txBody>
          <a:bodyPr vert="horz" lIns="91440" tIns="45720" rIns="91440" bIns="45720" rtlCol="0" anchor="t">
            <a:noAutofit/>
          </a:bodyPr>
          <a:lstStyle/>
          <a:p>
            <a:r>
              <a:rPr lang="en-US" sz="1000" dirty="0">
                <a:latin typeface="Aptos"/>
                <a:cs typeface="Arial"/>
              </a:rPr>
              <a:t>Key Participants</a:t>
            </a:r>
            <a:r>
              <a:rPr lang="en-US" sz="1000" u="none" dirty="0">
                <a:latin typeface="Aptos"/>
                <a:cs typeface="Arial"/>
              </a:rPr>
              <a:t>:</a:t>
            </a:r>
            <a:r>
              <a:rPr lang="en-US" sz="1000" dirty="0">
                <a:latin typeface="Aptos"/>
                <a:cs typeface="Arial"/>
              </a:rPr>
              <a:t>  </a:t>
            </a:r>
            <a:endParaRPr lang="en-US" dirty="0"/>
          </a:p>
          <a:p>
            <a:pPr lvl="1" indent="-117475"/>
            <a:r>
              <a:rPr lang="en-US" sz="900" dirty="0">
                <a:latin typeface="Aptos" panose="020B0004020202020204" pitchFamily="34" charset="0"/>
                <a:cs typeface="Arial"/>
              </a:rPr>
              <a:t>Project Owner: USAFRICOM </a:t>
            </a:r>
          </a:p>
          <a:p>
            <a:pPr lvl="1" indent="-117475"/>
            <a:r>
              <a:rPr lang="en-US" sz="900" dirty="0">
                <a:latin typeface="Aptos" panose="020B0004020202020204" pitchFamily="34" charset="0"/>
                <a:cs typeface="Arial"/>
              </a:rPr>
              <a:t>Industry Partner: Genesis Systems</a:t>
            </a:r>
          </a:p>
          <a:p>
            <a:pPr lvl="1" indent="-117475"/>
            <a:r>
              <a:rPr lang="en-US" sz="900" dirty="0">
                <a:latin typeface="Aptos" panose="020B0004020202020204" pitchFamily="34" charset="0"/>
                <a:cs typeface="Arial"/>
              </a:rPr>
              <a:t>Sustainment Partner: INDOPACOM</a:t>
            </a:r>
            <a:endParaRPr lang="en-US" sz="900" dirty="0">
              <a:latin typeface="Aptos" panose="020B0004020202020204" pitchFamily="34" charset="0"/>
            </a:endParaRPr>
          </a:p>
          <a:p>
            <a:pPr lvl="1" indent="-117475"/>
            <a:r>
              <a:rPr lang="en-US" sz="900" dirty="0">
                <a:latin typeface="Aptos"/>
                <a:cs typeface="Arial"/>
              </a:rPr>
              <a:t>Other Stakeholders: USAFRICOM, USINDOPACOM, PACAF, HQ USAF, US Army DEVCOM, AFIMSC, 11</a:t>
            </a:r>
            <a:r>
              <a:rPr lang="en-US" sz="900" baseline="30000" dirty="0">
                <a:latin typeface="Aptos"/>
                <a:cs typeface="Arial"/>
              </a:rPr>
              <a:t>th</a:t>
            </a:r>
            <a:r>
              <a:rPr lang="en-US" sz="900" dirty="0">
                <a:latin typeface="Aptos"/>
                <a:cs typeface="Arial"/>
              </a:rPr>
              <a:t> Air Task Force (ATF), 12</a:t>
            </a:r>
            <a:r>
              <a:rPr lang="en-US" sz="900" baseline="30000" dirty="0">
                <a:latin typeface="Aptos"/>
                <a:cs typeface="Arial"/>
              </a:rPr>
              <a:t>th</a:t>
            </a:r>
            <a:r>
              <a:rPr lang="en-US" sz="900" dirty="0">
                <a:latin typeface="Aptos"/>
                <a:cs typeface="Arial"/>
              </a:rPr>
              <a:t> ATF, 13</a:t>
            </a:r>
            <a:r>
              <a:rPr lang="en-US" sz="900" baseline="30000" dirty="0">
                <a:latin typeface="Aptos"/>
                <a:cs typeface="Arial"/>
              </a:rPr>
              <a:t>th</a:t>
            </a:r>
            <a:r>
              <a:rPr lang="en-US" sz="900" dirty="0">
                <a:latin typeface="Aptos"/>
                <a:cs typeface="Arial"/>
              </a:rPr>
              <a:t> ATF, 21</a:t>
            </a:r>
            <a:r>
              <a:rPr lang="en-US" sz="900" baseline="30000" dirty="0">
                <a:latin typeface="Aptos"/>
                <a:cs typeface="Arial"/>
              </a:rPr>
              <a:t>st</a:t>
            </a:r>
            <a:r>
              <a:rPr lang="en-US" sz="900" dirty="0">
                <a:latin typeface="Aptos"/>
                <a:cs typeface="Arial"/>
              </a:rPr>
              <a:t> ATF, 22</a:t>
            </a:r>
            <a:r>
              <a:rPr lang="en-US" sz="900" baseline="30000" dirty="0">
                <a:latin typeface="Aptos"/>
                <a:cs typeface="Arial"/>
              </a:rPr>
              <a:t>nd</a:t>
            </a:r>
            <a:r>
              <a:rPr lang="en-US" sz="900" dirty="0">
                <a:latin typeface="Aptos"/>
                <a:cs typeface="Arial"/>
              </a:rPr>
              <a:t> ATF, 23</a:t>
            </a:r>
            <a:r>
              <a:rPr lang="en-US" sz="900" baseline="30000" dirty="0">
                <a:latin typeface="Aptos"/>
                <a:cs typeface="Arial"/>
              </a:rPr>
              <a:t>rd</a:t>
            </a:r>
            <a:r>
              <a:rPr lang="en-US" sz="900" dirty="0">
                <a:latin typeface="Aptos"/>
                <a:cs typeface="Arial"/>
              </a:rPr>
              <a:t> ATF, 270</a:t>
            </a:r>
            <a:r>
              <a:rPr lang="en-US" sz="900" baseline="30000" dirty="0">
                <a:latin typeface="Aptos"/>
                <a:cs typeface="Arial"/>
              </a:rPr>
              <a:t>th</a:t>
            </a:r>
            <a:r>
              <a:rPr lang="en-US" sz="900" dirty="0">
                <a:latin typeface="Aptos"/>
                <a:cs typeface="Arial"/>
              </a:rPr>
              <a:t> CAOS, USMC 3rd Littoral Battalion, 8</a:t>
            </a:r>
            <a:r>
              <a:rPr lang="en-US" sz="900" baseline="30000" dirty="0">
                <a:latin typeface="Aptos"/>
                <a:cs typeface="Arial"/>
              </a:rPr>
              <a:t>th</a:t>
            </a:r>
            <a:r>
              <a:rPr lang="en-US" sz="900" dirty="0">
                <a:latin typeface="Aptos"/>
                <a:cs typeface="Arial"/>
              </a:rPr>
              <a:t> Theater Sustainment Command</a:t>
            </a:r>
            <a:endParaRPr lang="en-US" sz="900" dirty="0">
              <a:latin typeface="Aptos"/>
            </a:endParaRPr>
          </a:p>
          <a:p>
            <a:pPr lvl="0"/>
            <a:r>
              <a:rPr lang="en-US" sz="1000" dirty="0">
                <a:latin typeface="Aptos" panose="020B0004020202020204" pitchFamily="34" charset="0"/>
                <a:cs typeface="Arial"/>
              </a:rPr>
              <a:t>Key Deliverables</a:t>
            </a:r>
            <a:r>
              <a:rPr lang="en-US" sz="1000" u="none" dirty="0">
                <a:latin typeface="Aptos" panose="020B0004020202020204" pitchFamily="34" charset="0"/>
                <a:cs typeface="Arial"/>
              </a:rPr>
              <a:t>:</a:t>
            </a:r>
            <a:endParaRPr lang="en-US" sz="1000" dirty="0">
              <a:latin typeface="Aptos" panose="020B0004020202020204" pitchFamily="34" charset="0"/>
              <a:cs typeface="Arial"/>
            </a:endParaRPr>
          </a:p>
          <a:p>
            <a:pPr lvl="1" indent="-117475"/>
            <a:r>
              <a:rPr lang="en-US" sz="900" dirty="0">
                <a:latin typeface="Aptos" panose="020B0004020202020204" pitchFamily="34" charset="0"/>
                <a:cs typeface="Arial"/>
              </a:rPr>
              <a:t>41 WC-1000M WaterCube</a:t>
            </a:r>
            <a:r>
              <a:rPr lang="en-US" sz="900" baseline="30000" dirty="0">
                <a:latin typeface="Aptos" panose="020B0004020202020204" pitchFamily="34" charset="0"/>
                <a:cs typeface="Arial"/>
              </a:rPr>
              <a:t>®</a:t>
            </a:r>
            <a:r>
              <a:rPr lang="en-US" sz="900" dirty="0">
                <a:latin typeface="Aptos" panose="020B0004020202020204" pitchFamily="34" charset="0"/>
                <a:cs typeface="Arial"/>
              </a:rPr>
              <a:t> one thousand gallon per day systems</a:t>
            </a:r>
          </a:p>
          <a:p>
            <a:pPr lvl="1" indent="-117475"/>
            <a:r>
              <a:rPr lang="en-US" sz="900" dirty="0">
                <a:latin typeface="Aptos"/>
                <a:cs typeface="Arial"/>
              </a:rPr>
              <a:t>118 WC-100M WaterCube</a:t>
            </a:r>
            <a:r>
              <a:rPr lang="en-US" sz="900" baseline="30000" dirty="0">
                <a:latin typeface="Aptos"/>
                <a:cs typeface="Arial"/>
              </a:rPr>
              <a:t>®</a:t>
            </a:r>
            <a:r>
              <a:rPr lang="en-US" sz="900" dirty="0">
                <a:latin typeface="Aptos"/>
                <a:cs typeface="Arial"/>
              </a:rPr>
              <a:t> one hundred gallon per day systems</a:t>
            </a:r>
          </a:p>
          <a:p>
            <a:pPr lvl="1" indent="-117475"/>
            <a:r>
              <a:rPr lang="en-US" sz="900" dirty="0">
                <a:latin typeface="Aptos" panose="020B0004020202020204" pitchFamily="34" charset="0"/>
                <a:cs typeface="Arial"/>
              </a:rPr>
              <a:t>422 WC-10M WaterCube</a:t>
            </a:r>
            <a:r>
              <a:rPr lang="en-US" sz="900" baseline="30000" dirty="0">
                <a:latin typeface="Aptos" panose="020B0004020202020204" pitchFamily="34" charset="0"/>
                <a:cs typeface="Arial"/>
              </a:rPr>
              <a:t>®</a:t>
            </a:r>
            <a:r>
              <a:rPr lang="en-US" sz="900" dirty="0">
                <a:latin typeface="Aptos" panose="020B0004020202020204" pitchFamily="34" charset="0"/>
                <a:cs typeface="Arial"/>
              </a:rPr>
              <a:t> ten gallon per day water generator systems</a:t>
            </a:r>
          </a:p>
          <a:p>
            <a:pPr marL="347345" lvl="2" indent="-117475"/>
            <a:r>
              <a:rPr lang="en-US" dirty="0">
                <a:latin typeface="Aptos" panose="020B0004020202020204" pitchFamily="34" charset="0"/>
                <a:cs typeface="Arial"/>
              </a:rPr>
              <a:t>All military WaterCube</a:t>
            </a:r>
            <a:r>
              <a:rPr lang="en-US" baseline="30000" dirty="0">
                <a:latin typeface="Aptos" panose="020B0004020202020204" pitchFamily="34" charset="0"/>
                <a:cs typeface="Arial"/>
              </a:rPr>
              <a:t>®</a:t>
            </a:r>
            <a:r>
              <a:rPr lang="en-US" dirty="0">
                <a:latin typeface="Aptos" panose="020B0004020202020204" pitchFamily="34" charset="0"/>
                <a:cs typeface="Arial"/>
              </a:rPr>
              <a:t> systems are EMP/Cyber hardened</a:t>
            </a:r>
          </a:p>
          <a:p>
            <a:pPr marL="347345" lvl="2" indent="-118745"/>
            <a:r>
              <a:rPr lang="en-US" dirty="0">
                <a:latin typeface="Aptos"/>
                <a:cs typeface="Arial"/>
              </a:rPr>
              <a:t>Parts benchstock for maintenance and repair sustainment</a:t>
            </a:r>
          </a:p>
          <a:p>
            <a:pPr marL="52070" lvl="1" indent="0">
              <a:buNone/>
            </a:pPr>
            <a:endParaRPr lang="en-US" sz="500" dirty="0">
              <a:solidFill>
                <a:srgbClr val="FF0000"/>
              </a:solidFill>
              <a:latin typeface="Aptos" panose="020B0004020202020204" pitchFamily="34" charset="0"/>
              <a:cs typeface="Arial"/>
            </a:endParaRPr>
          </a:p>
          <a:p>
            <a:r>
              <a:rPr lang="en-US" sz="900" b="0" u="none" dirty="0">
                <a:latin typeface="Aptos"/>
                <a:cs typeface="Arial"/>
              </a:rPr>
              <a:t>$50M APFIT funding will provide ramp up capability and initial procurement of 39 systems by Q4 FY26 with full delivery of 581 systems by Q4 FY29. INDOPACOM will continue procurement and sustainment using POM’d funding (table). </a:t>
            </a:r>
          </a:p>
        </p:txBody>
      </p:sp>
      <p:sp>
        <p:nvSpPr>
          <p:cNvPr id="2" name="Tagline">
            <a:extLst>
              <a:ext uri="{FF2B5EF4-FFF2-40B4-BE49-F238E27FC236}">
                <a16:creationId xmlns:a16="http://schemas.microsoft.com/office/drawing/2014/main" id="{D4D8CF2C-ED58-0884-25B6-F75892FD395D}"/>
              </a:ext>
            </a:extLst>
          </p:cNvPr>
          <p:cNvSpPr/>
          <p:nvPr/>
        </p:nvSpPr>
        <p:spPr bwMode="auto">
          <a:xfrm>
            <a:off x="12216" y="3505200"/>
            <a:ext cx="4544568" cy="291120"/>
          </a:xfrm>
          <a:prstGeom prst="rect">
            <a:avLst/>
          </a:prstGeom>
          <a:solidFill>
            <a:srgbClr val="B3D9FF"/>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lvl="0" algn="ctr"/>
            <a:r>
              <a:rPr lang="en-US" sz="1300" b="1" i="1" kern="0" dirty="0">
                <a:solidFill>
                  <a:srgbClr val="000000"/>
                </a:solidFill>
                <a:latin typeface="Aptos" panose="020B0004020202020204" pitchFamily="34" charset="0"/>
                <a:cs typeface="Arial" panose="020B0604020202020204" pitchFamily="34" charset="0"/>
              </a:rPr>
              <a:t>Water from Air at the Point of Need</a:t>
            </a:r>
            <a:endParaRPr lang="en-US" sz="1300" dirty="0">
              <a:latin typeface="Aptos" panose="020B0004020202020204" pitchFamily="34" charset="0"/>
            </a:endParaRPr>
          </a:p>
        </p:txBody>
      </p:sp>
      <p:sp>
        <p:nvSpPr>
          <p:cNvPr id="73" name="RRTOTitle">
            <a:extLst>
              <a:ext uri="{FF2B5EF4-FFF2-40B4-BE49-F238E27FC236}">
                <a16:creationId xmlns:a16="http://schemas.microsoft.com/office/drawing/2014/main" id="{7BD1BA50-03FB-E631-B7A4-31D53950E92C}"/>
              </a:ext>
            </a:extLst>
          </p:cNvPr>
          <p:cNvSpPr>
            <a:spLocks noGrp="1"/>
          </p:cNvSpPr>
          <p:nvPr>
            <p:ph type="title"/>
          </p:nvPr>
        </p:nvSpPr>
        <p:spPr>
          <a:xfrm>
            <a:off x="838200" y="241938"/>
            <a:ext cx="7467600" cy="520061"/>
          </a:xfrm>
        </p:spPr>
        <p:txBody>
          <a:bodyPr>
            <a:normAutofit/>
          </a:bodyPr>
          <a:lstStyle/>
          <a:p>
            <a:r>
              <a:rPr lang="en-US" sz="2400" b="1" dirty="0"/>
              <a:t>Unlimited Potable Water from the Air</a:t>
            </a:r>
          </a:p>
        </p:txBody>
      </p:sp>
      <p:sp>
        <p:nvSpPr>
          <p:cNvPr id="25" name="POCs">
            <a:extLst>
              <a:ext uri="{FF2B5EF4-FFF2-40B4-BE49-F238E27FC236}">
                <a16:creationId xmlns:a16="http://schemas.microsoft.com/office/drawing/2014/main" id="{D7676C9D-32CF-C8C0-1D59-9D881FB3B25F}"/>
              </a:ext>
            </a:extLst>
          </p:cNvPr>
          <p:cNvSpPr txBox="1"/>
          <p:nvPr/>
        </p:nvSpPr>
        <p:spPr>
          <a:xfrm>
            <a:off x="5844264" y="6530988"/>
            <a:ext cx="3294529" cy="315471"/>
          </a:xfrm>
          <a:prstGeom prst="rect">
            <a:avLst/>
          </a:prstGeom>
          <a:noFill/>
        </p:spPr>
        <p:txBody>
          <a:bodyPr wrap="square" rtlCol="0" anchor="ctr">
            <a:spAutoFit/>
          </a:bodyPr>
          <a:lstStyle/>
          <a:p>
            <a:r>
              <a:rPr lang="en-US" sz="650" dirty="0">
                <a:latin typeface="Aptos" panose="020B0004020202020204" pitchFamily="34" charset="0"/>
                <a:cs typeface="Arial" panose="020B0604020202020204" pitchFamily="34" charset="0"/>
              </a:rPr>
              <a:t>Genesis Systems LLC, Herschel.Campbell@Genesissystems.com, 713-416-5669</a:t>
            </a:r>
          </a:p>
          <a:p>
            <a:r>
              <a:rPr lang="en-US" sz="800" dirty="0">
                <a:highlight>
                  <a:srgbClr val="FFFF00"/>
                </a:highlight>
                <a:latin typeface="Aptos" panose="020B0004020202020204" pitchFamily="34" charset="0"/>
                <a:cs typeface="Arial" panose="020B0604020202020204" pitchFamily="34" charset="0"/>
              </a:rPr>
              <a:t>Name of APFIT PM, e-mail, phone </a:t>
            </a:r>
          </a:p>
        </p:txBody>
      </p:sp>
      <p:sp>
        <p:nvSpPr>
          <p:cNvPr id="6" name="Text Placeholder 2">
            <a:extLst>
              <a:ext uri="{FF2B5EF4-FFF2-40B4-BE49-F238E27FC236}">
                <a16:creationId xmlns:a16="http://schemas.microsoft.com/office/drawing/2014/main" id="{18A103A5-7DF9-8B2F-C398-DE4664F3830A}"/>
              </a:ext>
            </a:extLst>
          </p:cNvPr>
          <p:cNvSpPr>
            <a:spLocks noGrp="1"/>
          </p:cNvSpPr>
          <p:nvPr>
            <p:ph type="body" sz="quarter" idx="4294967295" hasCustomPrompt="1"/>
          </p:nvPr>
        </p:nvSpPr>
        <p:spPr>
          <a:xfrm>
            <a:off x="533400" y="0"/>
            <a:ext cx="8018581" cy="302281"/>
          </a:xfrm>
        </p:spPr>
        <p:txBody>
          <a:bodyPr anchor="ctr">
            <a:normAutofit/>
          </a:bodyPr>
          <a:lstStyle>
            <a:lvl1pPr marL="0" indent="0" algn="ctr">
              <a:lnSpc>
                <a:spcPct val="100000"/>
              </a:lnSpc>
              <a:spcBef>
                <a:spcPts val="0"/>
              </a:spcBef>
              <a:buNone/>
              <a:defRPr sz="1000" b="1">
                <a:solidFill>
                  <a:schemeClr val="tx1"/>
                </a:solidFill>
                <a:latin typeface="Arial" panose="020B0604020202020204" pitchFamily="34" charset="0"/>
                <a:cs typeface="Arial" panose="020B0604020202020204" pitchFamily="34" charset="0"/>
              </a:defRPr>
            </a:lvl1pPr>
          </a:lstStyle>
          <a:p>
            <a:r>
              <a:rPr lang="en-US" sz="900" b="0" dirty="0">
                <a:latin typeface="Aptos" panose="020B0004020202020204" pitchFamily="34" charset="0"/>
                <a:cs typeface="Arial"/>
              </a:rPr>
              <a:t>CONFIDNETIAL//GRAY//NOT FOR PUBLIC</a:t>
            </a:r>
            <a:endParaRPr lang="en-US" dirty="0">
              <a:latin typeface="Aptos" panose="020B0004020202020204" pitchFamily="34" charset="0"/>
              <a:cs typeface="Arial"/>
            </a:endParaRPr>
          </a:p>
          <a:p>
            <a:endParaRPr lang="en-US" sz="900" i="1" dirty="0">
              <a:solidFill>
                <a:srgbClr val="FF0000"/>
              </a:solidFill>
              <a:highlight>
                <a:srgbClr val="FFFF00"/>
              </a:highlight>
            </a:endParaRPr>
          </a:p>
        </p:txBody>
      </p:sp>
      <p:pic>
        <p:nvPicPr>
          <p:cNvPr id="4" name="Picture 3" descr="A person standing next to a large generator&#10;&#10;AI-generated content may be incorrect.">
            <a:extLst>
              <a:ext uri="{FF2B5EF4-FFF2-40B4-BE49-F238E27FC236}">
                <a16:creationId xmlns:a16="http://schemas.microsoft.com/office/drawing/2014/main" id="{286DD1EF-2E67-1700-1BFF-DDF7616C5EC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74" y="849912"/>
            <a:ext cx="3505047" cy="2625306"/>
          </a:xfrm>
          <a:prstGeom prst="rect">
            <a:avLst/>
          </a:prstGeom>
        </p:spPr>
      </p:pic>
      <p:pic>
        <p:nvPicPr>
          <p:cNvPr id="17" name="Picture 16">
            <a:extLst>
              <a:ext uri="{FF2B5EF4-FFF2-40B4-BE49-F238E27FC236}">
                <a16:creationId xmlns:a16="http://schemas.microsoft.com/office/drawing/2014/main" id="{6571A492-2838-9410-AE20-3441457AFE3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559823" y="2608968"/>
            <a:ext cx="913458" cy="661021"/>
          </a:xfrm>
          <a:prstGeom prst="rect">
            <a:avLst/>
          </a:prstGeom>
        </p:spPr>
      </p:pic>
      <p:graphicFrame>
        <p:nvGraphicFramePr>
          <p:cNvPr id="5" name="Table 4">
            <a:extLst>
              <a:ext uri="{FF2B5EF4-FFF2-40B4-BE49-F238E27FC236}">
                <a16:creationId xmlns:a16="http://schemas.microsoft.com/office/drawing/2014/main" id="{23EAADF5-6EFB-7977-135A-3FE5BC6F8C42}"/>
              </a:ext>
            </a:extLst>
          </p:cNvPr>
          <p:cNvGraphicFramePr>
            <a:graphicFrameLocks noGrp="1"/>
          </p:cNvGraphicFramePr>
          <p:nvPr>
            <p:extLst>
              <p:ext uri="{D42A27DB-BD31-4B8C-83A1-F6EECF244321}">
                <p14:modId xmlns:p14="http://schemas.microsoft.com/office/powerpoint/2010/main" val="2124923104"/>
              </p:ext>
            </p:extLst>
          </p:nvPr>
        </p:nvGraphicFramePr>
        <p:xfrm>
          <a:off x="4622800" y="3841966"/>
          <a:ext cx="4496113" cy="1412788"/>
        </p:xfrm>
        <a:graphic>
          <a:graphicData uri="http://schemas.openxmlformats.org/drawingml/2006/table">
            <a:tbl>
              <a:tblPr bandRow="1">
                <a:tableStyleId>{5C22544A-7EE6-4342-B048-85BDC9FD1C3A}</a:tableStyleId>
              </a:tblPr>
              <a:tblGrid>
                <a:gridCol w="1245150">
                  <a:extLst>
                    <a:ext uri="{9D8B030D-6E8A-4147-A177-3AD203B41FA5}">
                      <a16:colId xmlns:a16="http://schemas.microsoft.com/office/drawing/2014/main" val="3717958810"/>
                    </a:ext>
                  </a:extLst>
                </a:gridCol>
                <a:gridCol w="361051">
                  <a:extLst>
                    <a:ext uri="{9D8B030D-6E8A-4147-A177-3AD203B41FA5}">
                      <a16:colId xmlns:a16="http://schemas.microsoft.com/office/drawing/2014/main" val="34979370"/>
                    </a:ext>
                  </a:extLst>
                </a:gridCol>
                <a:gridCol w="503103">
                  <a:extLst>
                    <a:ext uri="{9D8B030D-6E8A-4147-A177-3AD203B41FA5}">
                      <a16:colId xmlns:a16="http://schemas.microsoft.com/office/drawing/2014/main" val="380703133"/>
                    </a:ext>
                  </a:extLst>
                </a:gridCol>
                <a:gridCol w="549966">
                  <a:extLst>
                    <a:ext uri="{9D8B030D-6E8A-4147-A177-3AD203B41FA5}">
                      <a16:colId xmlns:a16="http://schemas.microsoft.com/office/drawing/2014/main" val="3325252210"/>
                    </a:ext>
                  </a:extLst>
                </a:gridCol>
                <a:gridCol w="510208">
                  <a:extLst>
                    <a:ext uri="{9D8B030D-6E8A-4147-A177-3AD203B41FA5}">
                      <a16:colId xmlns:a16="http://schemas.microsoft.com/office/drawing/2014/main" val="67796835"/>
                    </a:ext>
                  </a:extLst>
                </a:gridCol>
                <a:gridCol w="430696">
                  <a:extLst>
                    <a:ext uri="{9D8B030D-6E8A-4147-A177-3AD203B41FA5}">
                      <a16:colId xmlns:a16="http://schemas.microsoft.com/office/drawing/2014/main" val="3961630073"/>
                    </a:ext>
                  </a:extLst>
                </a:gridCol>
                <a:gridCol w="437322">
                  <a:extLst>
                    <a:ext uri="{9D8B030D-6E8A-4147-A177-3AD203B41FA5}">
                      <a16:colId xmlns:a16="http://schemas.microsoft.com/office/drawing/2014/main" val="3184379357"/>
                    </a:ext>
                  </a:extLst>
                </a:gridCol>
                <a:gridCol w="458617">
                  <a:extLst>
                    <a:ext uri="{9D8B030D-6E8A-4147-A177-3AD203B41FA5}">
                      <a16:colId xmlns:a16="http://schemas.microsoft.com/office/drawing/2014/main" val="1301650228"/>
                    </a:ext>
                  </a:extLst>
                </a:gridCol>
              </a:tblGrid>
              <a:tr h="285028">
                <a:tc>
                  <a:txBody>
                    <a:bodyPr/>
                    <a:lstStyle/>
                    <a:p>
                      <a:pPr fontAlgn="b"/>
                      <a:r>
                        <a:rPr lang="en-US" sz="900" b="1" dirty="0">
                          <a:solidFill>
                            <a:srgbClr val="FFFFFF"/>
                          </a:solidFill>
                          <a:effectLst/>
                          <a:latin typeface="Aptos" panose="020B0004020202020204" pitchFamily="34" charset="0"/>
                        </a:rPr>
                        <a:t>Funding ($M)</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50000"/>
                      </a:schemeClr>
                    </a:solidFill>
                  </a:tcPr>
                </a:tc>
                <a:tc>
                  <a:txBody>
                    <a:bodyPr/>
                    <a:lstStyle/>
                    <a:p>
                      <a:pPr algn="ctr" fontAlgn="b"/>
                      <a:r>
                        <a:rPr lang="en-US" sz="900" b="1" dirty="0">
                          <a:solidFill>
                            <a:srgbClr val="FFFFFF"/>
                          </a:solidFill>
                          <a:effectLst/>
                          <a:latin typeface="Aptos"/>
                        </a:rPr>
                        <a:t>Past</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50000"/>
                      </a:schemeClr>
                    </a:solidFill>
                  </a:tcPr>
                </a:tc>
                <a:tc>
                  <a:txBody>
                    <a:bodyPr/>
                    <a:lstStyle/>
                    <a:p>
                      <a:pPr algn="ctr" fontAlgn="b"/>
                      <a:r>
                        <a:rPr lang="en-US" sz="900" b="1" dirty="0">
                          <a:solidFill>
                            <a:srgbClr val="FFFFFF"/>
                          </a:solidFill>
                          <a:effectLst/>
                          <a:latin typeface="Aptos"/>
                        </a:rPr>
                        <a:t>FY25</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50000"/>
                      </a:schemeClr>
                    </a:solidFill>
                  </a:tcPr>
                </a:tc>
                <a:tc>
                  <a:txBody>
                    <a:bodyPr/>
                    <a:lstStyle/>
                    <a:p>
                      <a:pPr algn="ctr" fontAlgn="b"/>
                      <a:r>
                        <a:rPr lang="en-US" sz="900" b="1" dirty="0">
                          <a:solidFill>
                            <a:srgbClr val="FFFFFF"/>
                          </a:solidFill>
                          <a:effectLst/>
                          <a:latin typeface="Aptos"/>
                        </a:rPr>
                        <a:t>FY26</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50000"/>
                      </a:schemeClr>
                    </a:solidFill>
                  </a:tcPr>
                </a:tc>
                <a:tc>
                  <a:txBody>
                    <a:bodyPr/>
                    <a:lstStyle/>
                    <a:p>
                      <a:pPr algn="ctr" fontAlgn="b"/>
                      <a:r>
                        <a:rPr lang="en-US" sz="900" b="1" dirty="0">
                          <a:solidFill>
                            <a:srgbClr val="FFFFFF"/>
                          </a:solidFill>
                          <a:effectLst/>
                          <a:latin typeface="Aptos"/>
                        </a:rPr>
                        <a:t>FY27</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50000"/>
                      </a:schemeClr>
                    </a:solidFill>
                  </a:tcPr>
                </a:tc>
                <a:tc>
                  <a:txBody>
                    <a:bodyPr/>
                    <a:lstStyle/>
                    <a:p>
                      <a:pPr algn="ctr" fontAlgn="b"/>
                      <a:r>
                        <a:rPr lang="en-US" sz="900" b="1" dirty="0">
                          <a:solidFill>
                            <a:srgbClr val="FFFFFF"/>
                          </a:solidFill>
                          <a:effectLst/>
                          <a:latin typeface="Aptos"/>
                        </a:rPr>
                        <a:t>FY28</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50000"/>
                      </a:schemeClr>
                    </a:solidFill>
                  </a:tcPr>
                </a:tc>
                <a:tc>
                  <a:txBody>
                    <a:bodyPr/>
                    <a:lstStyle/>
                    <a:p>
                      <a:pPr algn="ctr" fontAlgn="b"/>
                      <a:r>
                        <a:rPr lang="en-US" sz="900" b="1" dirty="0">
                          <a:solidFill>
                            <a:srgbClr val="FFFFFF"/>
                          </a:solidFill>
                          <a:effectLst/>
                          <a:latin typeface="Aptos"/>
                        </a:rPr>
                        <a:t>FY29</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50000"/>
                      </a:schemeClr>
                    </a:solidFill>
                  </a:tcPr>
                </a:tc>
                <a:tc>
                  <a:txBody>
                    <a:bodyPr/>
                    <a:lstStyle/>
                    <a:p>
                      <a:pPr algn="ctr" fontAlgn="b"/>
                      <a:r>
                        <a:rPr lang="en-US" sz="900" b="1" dirty="0">
                          <a:solidFill>
                            <a:srgbClr val="FFFFFF"/>
                          </a:solidFill>
                          <a:effectLst/>
                          <a:latin typeface="Aptos"/>
                        </a:rPr>
                        <a:t>FY30</a:t>
                      </a:r>
                    </a:p>
                  </a:txBody>
                  <a:tcPr marL="9525" marR="9525" marT="9525"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2911977775"/>
                  </a:ext>
                </a:extLst>
              </a:tr>
              <a:tr h="248138">
                <a:tc>
                  <a:txBody>
                    <a:bodyPr/>
                    <a:lstStyle/>
                    <a:p>
                      <a:pPr fontAlgn="b"/>
                      <a:r>
                        <a:rPr lang="en-US" sz="900" dirty="0">
                          <a:effectLst/>
                          <a:latin typeface="Aptos" panose="020B0004020202020204" pitchFamily="34" charset="0"/>
                        </a:rPr>
                        <a:t>APFIT</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dirty="0">
                          <a:effectLst/>
                          <a:latin typeface="Aptos" panose="020B0004020202020204" pitchFamily="34" charset="0"/>
                        </a:rPr>
                        <a:t>$0.0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dirty="0">
                          <a:effectLst/>
                          <a:latin typeface="Aptos"/>
                        </a:rPr>
                        <a:t>$0.0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7030A0"/>
                          </a:solidFill>
                          <a:effectLst/>
                          <a:latin typeface="Aptos"/>
                          <a:cs typeface="Arial"/>
                        </a:rPr>
                        <a:t>$50.0</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Aptos"/>
                        <a:cs typeface="Arial"/>
                      </a:endParaRP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Aptos"/>
                        <a:cs typeface="Arial"/>
                      </a:endParaRP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Aptos"/>
                        <a:cs typeface="Arial"/>
                      </a:endParaRP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Aptos"/>
                        <a:cs typeface="Arial"/>
                      </a:endParaRP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24650733"/>
                  </a:ext>
                </a:extLst>
              </a:tr>
              <a:tr h="248138">
                <a:tc>
                  <a:txBody>
                    <a:bodyPr/>
                    <a:lstStyle/>
                    <a:p>
                      <a:pPr fontAlgn="b"/>
                      <a:r>
                        <a:rPr lang="en-US" sz="900" dirty="0">
                          <a:effectLst/>
                          <a:latin typeface="Aptos"/>
                        </a:rPr>
                        <a:t>Procurement (Phase III)</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dirty="0">
                          <a:effectLst/>
                          <a:latin typeface="Aptos"/>
                        </a:rPr>
                        <a:t>$0.6</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dirty="0">
                          <a:effectLst/>
                          <a:latin typeface="Aptos" panose="020B0004020202020204" pitchFamily="34" charset="0"/>
                        </a:rPr>
                        <a:t>$0.5</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panose="020B0004020202020204" pitchFamily="34" charset="0"/>
                          <a:cs typeface="Arial"/>
                        </a:rPr>
                        <a:t>$15.0</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panose="020B0004020202020204" pitchFamily="34" charset="0"/>
                          <a:cs typeface="Arial"/>
                        </a:rPr>
                        <a:t>$36.0</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panose="020B0004020202020204" pitchFamily="34" charset="0"/>
                          <a:cs typeface="Arial"/>
                        </a:rPr>
                        <a:t>$57.0</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dirty="0">
                          <a:latin typeface="Aptos" panose="020B0004020202020204" pitchFamily="34" charset="0"/>
                        </a:rPr>
                        <a:t>$78.0</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dirty="0">
                          <a:latin typeface="Aptos" panose="020B0004020202020204" pitchFamily="34" charset="0"/>
                        </a:rPr>
                        <a:t>$99.0</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4989421"/>
                  </a:ext>
                </a:extLst>
              </a:tr>
              <a:tr h="335717">
                <a:tc>
                  <a:txBody>
                    <a:bodyPr/>
                    <a:lstStyle/>
                    <a:p>
                      <a:pPr fontAlgn="b"/>
                      <a:r>
                        <a:rPr lang="en-US" sz="900" dirty="0">
                          <a:effectLst/>
                          <a:latin typeface="Aptos"/>
                        </a:rPr>
                        <a:t>Other Partner (RDT&amp;E)</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dirty="0">
                          <a:effectLst/>
                          <a:latin typeface="Aptos"/>
                        </a:rPr>
                        <a:t>$6.8</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a:cs typeface="Arial"/>
                        </a:rPr>
                        <a:t>$2.0 </a:t>
                      </a:r>
                    </a:p>
                    <a:p>
                      <a:pPr algn="ctr" fontAlgn="b"/>
                      <a:r>
                        <a:rPr lang="en-US" sz="600" b="0" i="0" u="none" strike="noStrike" dirty="0">
                          <a:solidFill>
                            <a:srgbClr val="000000"/>
                          </a:solidFill>
                          <a:effectLst/>
                          <a:latin typeface="Aptos"/>
                          <a:cs typeface="Arial"/>
                        </a:rPr>
                        <a:t>(TACFI)</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a:cs typeface="Arial"/>
                        </a:rPr>
                        <a:t>$14.0 </a:t>
                      </a:r>
                      <a:r>
                        <a:rPr lang="en-US" sz="600" b="0" i="0" u="none" strike="noStrike" dirty="0">
                          <a:solidFill>
                            <a:srgbClr val="000000"/>
                          </a:solidFill>
                          <a:effectLst/>
                          <a:latin typeface="Aptos"/>
                          <a:cs typeface="Arial"/>
                        </a:rPr>
                        <a:t>(Catalyst)</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a:cs typeface="Arial"/>
                        </a:rPr>
                        <a:t>$30.0 </a:t>
                      </a:r>
                      <a:r>
                        <a:rPr lang="en-US" sz="600" b="0" i="0" u="none" strike="noStrike" dirty="0">
                          <a:solidFill>
                            <a:srgbClr val="000000"/>
                          </a:solidFill>
                          <a:effectLst/>
                          <a:latin typeface="Aptos"/>
                          <a:cs typeface="Arial"/>
                        </a:rPr>
                        <a:t>(STRATFI)</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Aptos"/>
                        <a:cs typeface="Arial"/>
                      </a:endParaRP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Aptos"/>
                        <a:cs typeface="Arial"/>
                      </a:endParaRP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endParaRPr lang="en-US" sz="800" b="0" i="0" u="none" strike="noStrike" dirty="0">
                        <a:solidFill>
                          <a:srgbClr val="000000"/>
                        </a:solidFill>
                        <a:effectLst/>
                        <a:latin typeface="Aptos"/>
                        <a:cs typeface="Arial"/>
                      </a:endParaRP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1394390"/>
                  </a:ext>
                </a:extLst>
              </a:tr>
              <a:tr h="257100">
                <a:tc>
                  <a:txBody>
                    <a:bodyPr/>
                    <a:lstStyle/>
                    <a:p>
                      <a:pPr fontAlgn="b"/>
                      <a:r>
                        <a:rPr lang="en-US" sz="900" dirty="0">
                          <a:effectLst/>
                          <a:latin typeface="Aptos"/>
                        </a:rPr>
                        <a:t>Other Partner (O&amp;M)</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dirty="0">
                          <a:effectLst/>
                          <a:latin typeface="Aptos"/>
                        </a:rPr>
                        <a:t>$0.0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dirty="0">
                          <a:effectLst/>
                          <a:latin typeface="Aptos"/>
                        </a:rPr>
                        <a:t>$0.0</a:t>
                      </a:r>
                    </a:p>
                  </a:txBody>
                  <a:tcPr marL="9525" marR="9525" marT="9525"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a:cs typeface="Arial"/>
                        </a:rPr>
                        <a:t>$9.75</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a:cs typeface="Arial"/>
                        </a:rPr>
                        <a:t>$5.4</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a:cs typeface="Arial"/>
                        </a:rPr>
                        <a:t>$8.55</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a:cs typeface="Arial"/>
                        </a:rPr>
                        <a:t>$11.7</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tc>
                  <a:txBody>
                    <a:bodyPr/>
                    <a:lstStyle/>
                    <a:p>
                      <a:pPr algn="ctr" fontAlgn="b"/>
                      <a:r>
                        <a:rPr lang="en-US" sz="800" b="0" i="0" u="none" strike="noStrike" dirty="0">
                          <a:solidFill>
                            <a:srgbClr val="000000"/>
                          </a:solidFill>
                          <a:effectLst/>
                          <a:latin typeface="Aptos"/>
                          <a:cs typeface="Arial"/>
                        </a:rPr>
                        <a:t>$14.8</a:t>
                      </a:r>
                    </a:p>
                  </a:txBody>
                  <a:tcPr marT="9144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9338905"/>
                  </a:ext>
                </a:extLst>
              </a:tr>
            </a:tbl>
          </a:graphicData>
        </a:graphic>
      </p:graphicFrame>
      <p:pic>
        <p:nvPicPr>
          <p:cNvPr id="9" name="Picture 8" descr="A close up of a machine&#10;&#10;AI-generated content may be incorrect.">
            <a:extLst>
              <a:ext uri="{FF2B5EF4-FFF2-40B4-BE49-F238E27FC236}">
                <a16:creationId xmlns:a16="http://schemas.microsoft.com/office/drawing/2014/main" id="{B59A192B-B017-C6B7-F69D-42FC3A8AC0AD}"/>
              </a:ext>
            </a:extLst>
          </p:cNvPr>
          <p:cNvPicPr>
            <a:picLocks noChangeAspect="1"/>
          </p:cNvPicPr>
          <p:nvPr/>
        </p:nvPicPr>
        <p:blipFill>
          <a:blip r:embed="rId5"/>
          <a:stretch>
            <a:fillRect/>
          </a:stretch>
        </p:blipFill>
        <p:spPr>
          <a:xfrm>
            <a:off x="3698875" y="1093561"/>
            <a:ext cx="640897" cy="626836"/>
          </a:xfrm>
          <a:prstGeom prst="rect">
            <a:avLst/>
          </a:prstGeom>
        </p:spPr>
      </p:pic>
      <p:pic>
        <p:nvPicPr>
          <p:cNvPr id="14" name="Picture 13" descr="A close-up of a machine&#10;&#10;AI-generated content may be incorrect.">
            <a:extLst>
              <a:ext uri="{FF2B5EF4-FFF2-40B4-BE49-F238E27FC236}">
                <a16:creationId xmlns:a16="http://schemas.microsoft.com/office/drawing/2014/main" id="{F8A5F260-08AD-4C8E-145D-7847711D6C10}"/>
              </a:ext>
            </a:extLst>
          </p:cNvPr>
          <p:cNvPicPr>
            <a:picLocks noChangeAspect="1"/>
          </p:cNvPicPr>
          <p:nvPr/>
        </p:nvPicPr>
        <p:blipFill>
          <a:blip r:embed="rId6"/>
          <a:stretch>
            <a:fillRect/>
          </a:stretch>
        </p:blipFill>
        <p:spPr>
          <a:xfrm>
            <a:off x="3587749" y="1715406"/>
            <a:ext cx="872674" cy="982435"/>
          </a:xfrm>
          <a:prstGeom prst="rect">
            <a:avLst/>
          </a:prstGeom>
        </p:spPr>
      </p:pic>
    </p:spTree>
    <p:extLst>
      <p:ext uri="{BB962C8B-B14F-4D97-AF65-F5344CB8AC3E}">
        <p14:creationId xmlns:p14="http://schemas.microsoft.com/office/powerpoint/2010/main" val="3393723984"/>
      </p:ext>
    </p:extLst>
  </p:cSld>
  <p:clrMapOvr>
    <a:masterClrMapping/>
  </p:clrMapOvr>
  <p:transition>
    <p:cover/>
  </p:transition>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Grid">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chemeClr val="tx1"/>
            </a:solidFill>
            <a:effectLst/>
            <a:latin typeface="Times New Roman" pitchFamily="18" charset="0"/>
          </a:defRPr>
        </a:defPPr>
      </a:lstStyle>
    </a:lnDef>
  </a:objectDefaults>
  <a:extraClrSchemeLst>
    <a:extraClrScheme>
      <a:clrScheme name="Default Design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142</TotalTime>
  <Words>724</Words>
  <Application>Microsoft Office PowerPoint</Application>
  <PresentationFormat>On-screen Show (4:3)</PresentationFormat>
  <Paragraphs>77</Paragraphs>
  <Slides>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Aptos</vt:lpstr>
      <vt:lpstr>Arial</vt:lpstr>
      <vt:lpstr>Century Schoolbook</vt:lpstr>
      <vt:lpstr>Courier New</vt:lpstr>
      <vt:lpstr>Franklin Gothic Medium</vt:lpstr>
      <vt:lpstr>Times New Roman</vt:lpstr>
      <vt:lpstr>Default Design</vt:lpstr>
      <vt:lpstr>Unlimited Potable Water from the Air</vt:lpstr>
    </vt:vector>
  </TitlesOfParts>
  <Company>Defense Threat Reduction Agency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 Slide Title</dc:title>
  <dc:creator>rigbyd</dc:creator>
  <cp:lastModifiedBy>Kenneth Aiello</cp:lastModifiedBy>
  <cp:revision>43</cp:revision>
  <cp:lastPrinted>2023-08-11T12:39:45Z</cp:lastPrinted>
  <dcterms:created xsi:type="dcterms:W3CDTF">2002-04-15T21:56:46Z</dcterms:created>
  <dcterms:modified xsi:type="dcterms:W3CDTF">2025-11-05T02:48:10Z</dcterms:modified>
</cp:coreProperties>
</file>